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80" r:id="rId5"/>
    <p:sldId id="278" r:id="rId6"/>
    <p:sldId id="270" r:id="rId7"/>
    <p:sldId id="277" r:id="rId8"/>
    <p:sldId id="279" r:id="rId9"/>
    <p:sldId id="256" r:id="rId10"/>
    <p:sldId id="257" r:id="rId11"/>
    <p:sldId id="258" r:id="rId12"/>
    <p:sldId id="259" r:id="rId13"/>
    <p:sldId id="260" r:id="rId14"/>
    <p:sldId id="261" r:id="rId15"/>
    <p:sldId id="282" r:id="rId16"/>
    <p:sldId id="271" r:id="rId17"/>
    <p:sldId id="274" r:id="rId18"/>
    <p:sldId id="276" r:id="rId19"/>
    <p:sldId id="296" r:id="rId20"/>
    <p:sldId id="287" r:id="rId21"/>
    <p:sldId id="288" r:id="rId22"/>
    <p:sldId id="284" r:id="rId23"/>
    <p:sldId id="262" r:id="rId24"/>
    <p:sldId id="298" r:id="rId25"/>
    <p:sldId id="281" r:id="rId26"/>
    <p:sldId id="275" r:id="rId27"/>
    <p:sldId id="292" r:id="rId28"/>
    <p:sldId id="272" r:id="rId29"/>
    <p:sldId id="286" r:id="rId30"/>
    <p:sldId id="289" r:id="rId31"/>
    <p:sldId id="299" r:id="rId32"/>
    <p:sldId id="285" r:id="rId33"/>
    <p:sldId id="295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4E1C1-B95A-CB2A-8750-B4A179BCCA8A}" v="599" dt="2026-04-30T03:14:11.220"/>
    <p1510:client id="{5FC604E7-E2C9-8925-93E5-075B64F006AA}" v="203" dt="2026-04-30T02:49:34.784"/>
    <p1510:client id="{F3E197DF-AE3D-47F4-AE14-713C28157393}" v="2" dt="2026-04-30T03:36:18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4"/>
    <p:restoredTop sz="9475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rgbClr val="2C5E9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2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Highland Village</c:v>
                </c:pt>
                <c:pt idx="1">
                  <c:v>Lewisville</c:v>
                </c:pt>
                <c:pt idx="2">
                  <c:v>Denton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16137</c:v>
                </c:pt>
                <c:pt idx="1">
                  <c:v>135983</c:v>
                </c:pt>
                <c:pt idx="2">
                  <c:v>165998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B9-4459-A228-1CD6E1488D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000"/>
          <c:min val="0"/>
        </c:scaling>
        <c:delete val="0"/>
        <c:axPos val="l"/>
        <c:majorGridlines>
          <c:spPr>
            <a:ln w="12700" cap="flat">
              <a:solidFill>
                <a:srgbClr val="D9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00"/>
      </c:valAx>
      <c:spPr>
        <a:noFill/>
        <a:ln w="12700" cap="flat">
          <a:solidFill>
            <a:srgbClr val="D6DEE8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calls</c:v>
                </c:pt>
              </c:strCache>
            </c:strRef>
          </c:tx>
          <c:spPr>
            <a:ln w="38100" cap="flat">
              <a:solidFill>
                <a:srgbClr val="C948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4832"/>
              </a:solidFill>
              <a:ln w="9525" cap="flat">
                <a:solidFill>
                  <a:srgbClr val="C94832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1717</c:v>
                </c:pt>
                <c:pt idx="1">
                  <c:v>1621</c:v>
                </c:pt>
                <c:pt idx="2">
                  <c:v>1753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79-403C-8CF8-B7BB87D11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0"/>
          <c:min val="1500"/>
        </c:scaling>
        <c:delete val="0"/>
        <c:axPos val="l"/>
        <c:majorGridlines>
          <c:spPr>
            <a:ln w="12700" cap="flat">
              <a:solidFill>
                <a:srgbClr val="E6D4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 w="12700" cap="flat">
          <a:solidFill>
            <a:srgbClr val="E4D2CD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2025/2026 budget ($M)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Fire Department</c:v>
                </c:pt>
                <c:pt idx="1">
                  <c:v>Parks Division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4.4105169999999996</c:v>
                </c:pt>
                <c:pt idx="1">
                  <c:v>2.6861989999999998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A0-40AE-8CCD-9F1E380A9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 w="12700" cap="flat">
          <a:solidFill>
            <a:srgbClr val="D6DEE8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DF0D0D-9F45-4873-90FD-5FB2CD6CEB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837D2D-0F54-4C7B-9383-48DD7BFD9A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Introduction</a:t>
          </a:r>
        </a:p>
      </dgm:t>
    </dgm:pt>
    <dgm:pt modelId="{A522DBC5-2DC6-4F27-9E53-BCBE302129AD}" type="parTrans" cxnId="{B2F45B74-0761-41F3-8644-3F917B135D50}">
      <dgm:prSet/>
      <dgm:spPr/>
      <dgm:t>
        <a:bodyPr/>
        <a:lstStyle/>
        <a:p>
          <a:endParaRPr lang="en-US"/>
        </a:p>
      </dgm:t>
    </dgm:pt>
    <dgm:pt modelId="{1CC77E7B-1FD9-45D5-B233-F6833E211A5C}" type="sibTrans" cxnId="{B2F45B74-0761-41F3-8644-3F917B135D50}">
      <dgm:prSet/>
      <dgm:spPr/>
      <dgm:t>
        <a:bodyPr/>
        <a:lstStyle/>
        <a:p>
          <a:endParaRPr lang="en-US"/>
        </a:p>
      </dgm:t>
    </dgm:pt>
    <dgm:pt modelId="{D918F1A4-D7E5-489E-AA3E-CC97840B1E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Meet the Team</a:t>
          </a:r>
        </a:p>
      </dgm:t>
    </dgm:pt>
    <dgm:pt modelId="{C6B967E8-8311-4BD6-ADE0-DD6EAE430057}" type="parTrans" cxnId="{BF36ACE7-B564-48D0-88BE-168AB110D406}">
      <dgm:prSet/>
      <dgm:spPr/>
      <dgm:t>
        <a:bodyPr/>
        <a:lstStyle/>
        <a:p>
          <a:endParaRPr lang="en-US"/>
        </a:p>
      </dgm:t>
    </dgm:pt>
    <dgm:pt modelId="{2A69D09B-5120-4DE2-97E1-90F018BDD53F}" type="sibTrans" cxnId="{BF36ACE7-B564-48D0-88BE-168AB110D406}">
      <dgm:prSet/>
      <dgm:spPr/>
      <dgm:t>
        <a:bodyPr/>
        <a:lstStyle/>
        <a:p>
          <a:endParaRPr lang="en-US"/>
        </a:p>
      </dgm:t>
    </dgm:pt>
    <dgm:pt modelId="{0299B6AF-B55E-42FA-940A-DE3A21C027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Project Details</a:t>
          </a:r>
        </a:p>
      </dgm:t>
    </dgm:pt>
    <dgm:pt modelId="{191AA472-7A7D-4D36-9C98-E3E993A81688}" type="parTrans" cxnId="{4B64573C-6093-45F7-8B77-B93A80D7A673}">
      <dgm:prSet/>
      <dgm:spPr/>
      <dgm:t>
        <a:bodyPr/>
        <a:lstStyle/>
        <a:p>
          <a:endParaRPr lang="en-US"/>
        </a:p>
      </dgm:t>
    </dgm:pt>
    <dgm:pt modelId="{A5800798-5EDF-4692-8473-75A6BA3BA009}" type="sibTrans" cxnId="{4B64573C-6093-45F7-8B77-B93A80D7A673}">
      <dgm:prSet/>
      <dgm:spPr/>
      <dgm:t>
        <a:bodyPr/>
        <a:lstStyle/>
        <a:p>
          <a:endParaRPr lang="en-US"/>
        </a:p>
      </dgm:t>
    </dgm:pt>
    <dgm:pt modelId="{75342BE2-E012-41D3-A463-A476779542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Key Objectives and Resources</a:t>
          </a:r>
        </a:p>
      </dgm:t>
    </dgm:pt>
    <dgm:pt modelId="{F781D7FD-3030-401F-9DF8-0F77AA6DEC93}" type="parTrans" cxnId="{C16F5EF3-53C8-43BE-9752-CC68FF135757}">
      <dgm:prSet/>
      <dgm:spPr/>
      <dgm:t>
        <a:bodyPr/>
        <a:lstStyle/>
        <a:p>
          <a:endParaRPr lang="en-US"/>
        </a:p>
      </dgm:t>
    </dgm:pt>
    <dgm:pt modelId="{16735A83-EA9D-4E6C-BB67-FB1A002E04C6}" type="sibTrans" cxnId="{C16F5EF3-53C8-43BE-9752-CC68FF135757}">
      <dgm:prSet/>
      <dgm:spPr/>
      <dgm:t>
        <a:bodyPr/>
        <a:lstStyle/>
        <a:p>
          <a:endParaRPr lang="en-US"/>
        </a:p>
      </dgm:t>
    </dgm:pt>
    <dgm:pt modelId="{8D7B6945-62B8-4555-B6C7-0E7E56E07CC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COHV Data and Research</a:t>
          </a:r>
        </a:p>
      </dgm:t>
    </dgm:pt>
    <dgm:pt modelId="{C84B74EF-1DEB-4B52-A1E8-9C124A3C4CE8}" type="parTrans" cxnId="{333D4ED0-1411-441C-8F2A-ABF0D5BCA58A}">
      <dgm:prSet/>
      <dgm:spPr/>
      <dgm:t>
        <a:bodyPr/>
        <a:lstStyle/>
        <a:p>
          <a:endParaRPr lang="en-US"/>
        </a:p>
      </dgm:t>
    </dgm:pt>
    <dgm:pt modelId="{974B9DBA-27B1-4202-AD07-BE532BDEB438}" type="sibTrans" cxnId="{333D4ED0-1411-441C-8F2A-ABF0D5BCA58A}">
      <dgm:prSet/>
      <dgm:spPr/>
      <dgm:t>
        <a:bodyPr/>
        <a:lstStyle/>
        <a:p>
          <a:endParaRPr lang="en-US"/>
        </a:p>
      </dgm:t>
    </dgm:pt>
    <dgm:pt modelId="{1E2913D8-98B7-4D32-998F-D65473EA8F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Fire Department Succession</a:t>
          </a:r>
        </a:p>
      </dgm:t>
    </dgm:pt>
    <dgm:pt modelId="{88216014-480E-4E5A-B966-9DC16B748A46}" type="parTrans" cxnId="{F89C435B-A603-42DF-8EB8-4F339C5E2248}">
      <dgm:prSet/>
      <dgm:spPr/>
      <dgm:t>
        <a:bodyPr/>
        <a:lstStyle/>
        <a:p>
          <a:endParaRPr lang="en-US"/>
        </a:p>
      </dgm:t>
    </dgm:pt>
    <dgm:pt modelId="{5A1E571B-522A-4385-B697-2E5E0A1786A6}" type="sibTrans" cxnId="{F89C435B-A603-42DF-8EB8-4F339C5E2248}">
      <dgm:prSet/>
      <dgm:spPr/>
      <dgm:t>
        <a:bodyPr/>
        <a:lstStyle/>
        <a:p>
          <a:endParaRPr lang="en-US"/>
        </a:p>
      </dgm:t>
    </dgm:pt>
    <dgm:pt modelId="{D4E3A30E-8A10-4C7A-995E-1938090BAB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badi" panose="020B0604020104020204" pitchFamily="34" charset="0"/>
            </a:rPr>
            <a:t>Parks and Recreation Succession</a:t>
          </a:r>
        </a:p>
      </dgm:t>
    </dgm:pt>
    <dgm:pt modelId="{1889B2CC-6A14-4AA5-BB2F-D0640201CA06}" type="parTrans" cxnId="{269D6B59-CBB7-4F35-A7C8-9D841A99B2D6}">
      <dgm:prSet/>
      <dgm:spPr/>
      <dgm:t>
        <a:bodyPr/>
        <a:lstStyle/>
        <a:p>
          <a:endParaRPr lang="en-US"/>
        </a:p>
      </dgm:t>
    </dgm:pt>
    <dgm:pt modelId="{B274C132-676C-451E-8760-8C7BE36F2A20}" type="sibTrans" cxnId="{269D6B59-CBB7-4F35-A7C8-9D841A99B2D6}">
      <dgm:prSet/>
      <dgm:spPr/>
      <dgm:t>
        <a:bodyPr/>
        <a:lstStyle/>
        <a:p>
          <a:endParaRPr lang="en-US"/>
        </a:p>
      </dgm:t>
    </dgm:pt>
    <dgm:pt modelId="{776DDCCF-3486-425E-B76F-791A109464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25505B-1931-4D59-A46B-C94FDF93338B}" type="parTrans" cxnId="{35BA4B85-97DE-4E62-9F6B-0E73297F9C06}">
      <dgm:prSet/>
      <dgm:spPr/>
      <dgm:t>
        <a:bodyPr/>
        <a:lstStyle/>
        <a:p>
          <a:endParaRPr lang="en-US"/>
        </a:p>
      </dgm:t>
    </dgm:pt>
    <dgm:pt modelId="{D1FE7D00-0FE0-4D8F-AB7C-EDB1C4F3906D}" type="sibTrans" cxnId="{35BA4B85-97DE-4E62-9F6B-0E73297F9C06}">
      <dgm:prSet/>
      <dgm:spPr/>
      <dgm:t>
        <a:bodyPr/>
        <a:lstStyle/>
        <a:p>
          <a:endParaRPr lang="en-US"/>
        </a:p>
      </dgm:t>
    </dgm:pt>
    <dgm:pt modelId="{0A15EBAF-D7FE-4F8C-8BC4-9462996E03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F904F1-9C00-482F-A8BB-A4EE0FDA7EE5}" type="parTrans" cxnId="{3BC0A56C-78F5-4383-B269-E8D4BEFAC940}">
      <dgm:prSet/>
      <dgm:spPr/>
      <dgm:t>
        <a:bodyPr/>
        <a:lstStyle/>
        <a:p>
          <a:endParaRPr lang="en-US"/>
        </a:p>
      </dgm:t>
    </dgm:pt>
    <dgm:pt modelId="{8D8FD7C6-09DE-4C98-8121-EAD86FCADF0E}" type="sibTrans" cxnId="{3BC0A56C-78F5-4383-B269-E8D4BEFAC940}">
      <dgm:prSet/>
      <dgm:spPr/>
      <dgm:t>
        <a:bodyPr/>
        <a:lstStyle/>
        <a:p>
          <a:endParaRPr lang="en-US"/>
        </a:p>
      </dgm:t>
    </dgm:pt>
    <dgm:pt modelId="{ABCE232D-448A-4132-9CF4-96FACB3CC048}" type="pres">
      <dgm:prSet presAssocID="{79DF0D0D-9F45-4873-90FD-5FB2CD6CEB5E}" presName="root" presStyleCnt="0">
        <dgm:presLayoutVars>
          <dgm:dir/>
          <dgm:resizeHandles val="exact"/>
        </dgm:presLayoutVars>
      </dgm:prSet>
      <dgm:spPr/>
    </dgm:pt>
    <dgm:pt modelId="{CD485AB2-F6DC-49D6-BFF4-8D4B11B4CD90}" type="pres">
      <dgm:prSet presAssocID="{91837D2D-0F54-4C7B-9383-48DD7BFD9A80}" presName="compNode" presStyleCnt="0"/>
      <dgm:spPr/>
    </dgm:pt>
    <dgm:pt modelId="{82484B48-380A-4A2E-8B33-DFCAB05E5E39}" type="pres">
      <dgm:prSet presAssocID="{91837D2D-0F54-4C7B-9383-48DD7BFD9A80}" presName="bgRect" presStyleLbl="bgShp" presStyleIdx="0" presStyleCnt="9"/>
      <dgm:spPr/>
    </dgm:pt>
    <dgm:pt modelId="{1D7D77D3-6735-4486-B6D7-4CE22ACF38F6}" type="pres">
      <dgm:prSet presAssocID="{91837D2D-0F54-4C7B-9383-48DD7BFD9A80}" presName="iconRect" presStyleLbl="node1" presStyleIdx="0" presStyleCnt="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314C64A1-2FB0-4EA7-87CC-6C7AF90017F4}" type="pres">
      <dgm:prSet presAssocID="{91837D2D-0F54-4C7B-9383-48DD7BFD9A80}" presName="spaceRect" presStyleCnt="0"/>
      <dgm:spPr/>
    </dgm:pt>
    <dgm:pt modelId="{0C3B6004-C877-421B-9B77-A3A391EBB9A8}" type="pres">
      <dgm:prSet presAssocID="{91837D2D-0F54-4C7B-9383-48DD7BFD9A80}" presName="parTx" presStyleLbl="revTx" presStyleIdx="0" presStyleCnt="9">
        <dgm:presLayoutVars>
          <dgm:chMax val="0"/>
          <dgm:chPref val="0"/>
        </dgm:presLayoutVars>
      </dgm:prSet>
      <dgm:spPr/>
    </dgm:pt>
    <dgm:pt modelId="{596B59C4-22EF-48A9-ACA6-0F0E7C0310D2}" type="pres">
      <dgm:prSet presAssocID="{1CC77E7B-1FD9-45D5-B233-F6833E211A5C}" presName="sibTrans" presStyleCnt="0"/>
      <dgm:spPr/>
    </dgm:pt>
    <dgm:pt modelId="{248C34A3-A1B4-4C93-8194-075F6123B964}" type="pres">
      <dgm:prSet presAssocID="{D918F1A4-D7E5-489E-AA3E-CC97840B1EB4}" presName="compNode" presStyleCnt="0"/>
      <dgm:spPr/>
    </dgm:pt>
    <dgm:pt modelId="{A6AC4967-F6FC-46EA-90D4-6AAA99C70001}" type="pres">
      <dgm:prSet presAssocID="{D918F1A4-D7E5-489E-AA3E-CC97840B1EB4}" presName="bgRect" presStyleLbl="bgShp" presStyleIdx="1" presStyleCnt="9"/>
      <dgm:spPr/>
    </dgm:pt>
    <dgm:pt modelId="{F8EB5D7A-FD30-4F45-A695-10AEE0333B3E}" type="pres">
      <dgm:prSet presAssocID="{D918F1A4-D7E5-489E-AA3E-CC97840B1EB4}" presName="iconRect" presStyleLbl="node1" presStyleIdx="1" presStyleCnt="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mwork"/>
        </a:ext>
      </dgm:extLst>
    </dgm:pt>
    <dgm:pt modelId="{A874D8E6-3F86-4B31-82DB-56B337837277}" type="pres">
      <dgm:prSet presAssocID="{D918F1A4-D7E5-489E-AA3E-CC97840B1EB4}" presName="spaceRect" presStyleCnt="0"/>
      <dgm:spPr/>
    </dgm:pt>
    <dgm:pt modelId="{681B0C97-A820-4EDF-83DF-AB9AC1760ED9}" type="pres">
      <dgm:prSet presAssocID="{D918F1A4-D7E5-489E-AA3E-CC97840B1EB4}" presName="parTx" presStyleLbl="revTx" presStyleIdx="1" presStyleCnt="9">
        <dgm:presLayoutVars>
          <dgm:chMax val="0"/>
          <dgm:chPref val="0"/>
        </dgm:presLayoutVars>
      </dgm:prSet>
      <dgm:spPr/>
    </dgm:pt>
    <dgm:pt modelId="{58C9D17D-276B-459F-9790-8EDBC3D92486}" type="pres">
      <dgm:prSet presAssocID="{2A69D09B-5120-4DE2-97E1-90F018BDD53F}" presName="sibTrans" presStyleCnt="0"/>
      <dgm:spPr/>
    </dgm:pt>
    <dgm:pt modelId="{97DFDC35-916B-42EA-A78E-38BDF0EC6361}" type="pres">
      <dgm:prSet presAssocID="{0299B6AF-B55E-42FA-940A-DE3A21C02715}" presName="compNode" presStyleCnt="0"/>
      <dgm:spPr/>
    </dgm:pt>
    <dgm:pt modelId="{FEA9F069-9E72-4E31-A0CA-39A012DE8733}" type="pres">
      <dgm:prSet presAssocID="{0299B6AF-B55E-42FA-940A-DE3A21C02715}" presName="bgRect" presStyleLbl="bgShp" presStyleIdx="2" presStyleCnt="9"/>
      <dgm:spPr/>
    </dgm:pt>
    <dgm:pt modelId="{53A3B3E9-30DC-4A53-821A-E8AAE943A437}" type="pres">
      <dgm:prSet presAssocID="{0299B6AF-B55E-42FA-940A-DE3A21C02715}" presName="iconRect" presStyleLbl="node1" presStyleIdx="2" presStyleCnt="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 Team Project"/>
        </a:ext>
      </dgm:extLst>
    </dgm:pt>
    <dgm:pt modelId="{9080879A-636F-4F89-99FD-1F70BEE0F7CE}" type="pres">
      <dgm:prSet presAssocID="{0299B6AF-B55E-42FA-940A-DE3A21C02715}" presName="spaceRect" presStyleCnt="0"/>
      <dgm:spPr/>
    </dgm:pt>
    <dgm:pt modelId="{648EC935-373C-4A69-837F-6123EC0751E2}" type="pres">
      <dgm:prSet presAssocID="{0299B6AF-B55E-42FA-940A-DE3A21C02715}" presName="parTx" presStyleLbl="revTx" presStyleIdx="2" presStyleCnt="9">
        <dgm:presLayoutVars>
          <dgm:chMax val="0"/>
          <dgm:chPref val="0"/>
        </dgm:presLayoutVars>
      </dgm:prSet>
      <dgm:spPr/>
    </dgm:pt>
    <dgm:pt modelId="{15EE4603-1FB5-4F50-B699-36ECEDF40E86}" type="pres">
      <dgm:prSet presAssocID="{A5800798-5EDF-4692-8473-75A6BA3BA009}" presName="sibTrans" presStyleCnt="0"/>
      <dgm:spPr/>
    </dgm:pt>
    <dgm:pt modelId="{9BA296F0-B2C8-4F71-ABF2-C7829714C5F4}" type="pres">
      <dgm:prSet presAssocID="{75342BE2-E012-41D3-A463-A47677954238}" presName="compNode" presStyleCnt="0"/>
      <dgm:spPr/>
    </dgm:pt>
    <dgm:pt modelId="{5000E3F9-8A30-47B7-822F-05643AD600EF}" type="pres">
      <dgm:prSet presAssocID="{75342BE2-E012-41D3-A463-A47677954238}" presName="bgRect" presStyleLbl="bgShp" presStyleIdx="3" presStyleCnt="9"/>
      <dgm:spPr/>
    </dgm:pt>
    <dgm:pt modelId="{7F21611C-758B-4250-A787-B039FF0DD1BB}" type="pres">
      <dgm:prSet presAssocID="{75342BE2-E012-41D3-A463-A47677954238}" presName="iconRect" presStyleLbl="node1" presStyleIdx="3" presStyleCnt="9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orce Management"/>
        </a:ext>
      </dgm:extLst>
    </dgm:pt>
    <dgm:pt modelId="{0B8F2A76-FDE7-4EA3-A49F-A005D22ACB76}" type="pres">
      <dgm:prSet presAssocID="{75342BE2-E012-41D3-A463-A47677954238}" presName="spaceRect" presStyleCnt="0"/>
      <dgm:spPr/>
    </dgm:pt>
    <dgm:pt modelId="{83B1F3CC-524E-43B0-A638-AF9EC5F62C8B}" type="pres">
      <dgm:prSet presAssocID="{75342BE2-E012-41D3-A463-A47677954238}" presName="parTx" presStyleLbl="revTx" presStyleIdx="3" presStyleCnt="9">
        <dgm:presLayoutVars>
          <dgm:chMax val="0"/>
          <dgm:chPref val="0"/>
        </dgm:presLayoutVars>
      </dgm:prSet>
      <dgm:spPr/>
    </dgm:pt>
    <dgm:pt modelId="{E6AAFB79-8A39-4D79-884A-1268BB17C499}" type="pres">
      <dgm:prSet presAssocID="{16735A83-EA9D-4E6C-BB67-FB1A002E04C6}" presName="sibTrans" presStyleCnt="0"/>
      <dgm:spPr/>
    </dgm:pt>
    <dgm:pt modelId="{8E726CED-187A-494E-B2D0-73CB09DD2290}" type="pres">
      <dgm:prSet presAssocID="{8D7B6945-62B8-4555-B6C7-0E7E56E07CC5}" presName="compNode" presStyleCnt="0"/>
      <dgm:spPr/>
    </dgm:pt>
    <dgm:pt modelId="{AC1E5C36-38DA-4857-9B83-3F46420B17EF}" type="pres">
      <dgm:prSet presAssocID="{8D7B6945-62B8-4555-B6C7-0E7E56E07CC5}" presName="bgRect" presStyleLbl="bgShp" presStyleIdx="4" presStyleCnt="9"/>
      <dgm:spPr/>
    </dgm:pt>
    <dgm:pt modelId="{95F2EA7A-EAE3-4574-8796-1DF34B7E4CC2}" type="pres">
      <dgm:prSet presAssocID="{8D7B6945-62B8-4555-B6C7-0E7E56E07CC5}" presName="iconRect" presStyleLbl="node1" presStyleIdx="4" presStyleCnt="9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37AF81D-CCF6-444E-B475-CF39EFE8EE8E}" type="pres">
      <dgm:prSet presAssocID="{8D7B6945-62B8-4555-B6C7-0E7E56E07CC5}" presName="spaceRect" presStyleCnt="0"/>
      <dgm:spPr/>
    </dgm:pt>
    <dgm:pt modelId="{EB974445-6349-4D27-9D33-EEE6997F23EB}" type="pres">
      <dgm:prSet presAssocID="{8D7B6945-62B8-4555-B6C7-0E7E56E07CC5}" presName="parTx" presStyleLbl="revTx" presStyleIdx="4" presStyleCnt="9">
        <dgm:presLayoutVars>
          <dgm:chMax val="0"/>
          <dgm:chPref val="0"/>
        </dgm:presLayoutVars>
      </dgm:prSet>
      <dgm:spPr/>
    </dgm:pt>
    <dgm:pt modelId="{D4484B85-D924-4B27-9FC7-453E95EBBF4B}" type="pres">
      <dgm:prSet presAssocID="{974B9DBA-27B1-4202-AD07-BE532BDEB438}" presName="sibTrans" presStyleCnt="0"/>
      <dgm:spPr/>
    </dgm:pt>
    <dgm:pt modelId="{5D8A4335-E451-49AD-BC33-1D6FA57CBEE8}" type="pres">
      <dgm:prSet presAssocID="{1E2913D8-98B7-4D32-998F-D65473EA8F4B}" presName="compNode" presStyleCnt="0"/>
      <dgm:spPr/>
    </dgm:pt>
    <dgm:pt modelId="{9C15B7C8-3647-419C-9C3A-2D4C43E3F670}" type="pres">
      <dgm:prSet presAssocID="{1E2913D8-98B7-4D32-998F-D65473EA8F4B}" presName="bgRect" presStyleLbl="bgShp" presStyleIdx="5" presStyleCnt="9"/>
      <dgm:spPr/>
    </dgm:pt>
    <dgm:pt modelId="{D02E515B-DF89-412D-9C9E-8ADD0F85505B}" type="pres">
      <dgm:prSet presAssocID="{1E2913D8-98B7-4D32-998F-D65473EA8F4B}" presName="iconRect" presStyleLbl="node1" presStyleIdx="5" presStyleCnt="9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 Hydrant with solid fill"/>
        </a:ext>
      </dgm:extLst>
    </dgm:pt>
    <dgm:pt modelId="{C9F26F34-6499-4777-A26D-C575353D0AA8}" type="pres">
      <dgm:prSet presAssocID="{1E2913D8-98B7-4D32-998F-D65473EA8F4B}" presName="spaceRect" presStyleCnt="0"/>
      <dgm:spPr/>
    </dgm:pt>
    <dgm:pt modelId="{A4105620-5B9E-43EC-8C2F-7F967247A61E}" type="pres">
      <dgm:prSet presAssocID="{1E2913D8-98B7-4D32-998F-D65473EA8F4B}" presName="parTx" presStyleLbl="revTx" presStyleIdx="5" presStyleCnt="9">
        <dgm:presLayoutVars>
          <dgm:chMax val="0"/>
          <dgm:chPref val="0"/>
        </dgm:presLayoutVars>
      </dgm:prSet>
      <dgm:spPr/>
    </dgm:pt>
    <dgm:pt modelId="{35D5369E-35BC-47A5-AFB8-54C1304CCBA4}" type="pres">
      <dgm:prSet presAssocID="{5A1E571B-522A-4385-B697-2E5E0A1786A6}" presName="sibTrans" presStyleCnt="0"/>
      <dgm:spPr/>
    </dgm:pt>
    <dgm:pt modelId="{6F819149-7817-409A-B953-81B22A6E055C}" type="pres">
      <dgm:prSet presAssocID="{D4E3A30E-8A10-4C7A-995E-1938090BAB1E}" presName="compNode" presStyleCnt="0"/>
      <dgm:spPr/>
    </dgm:pt>
    <dgm:pt modelId="{85B6C4B1-F120-4191-8C9B-20380627DE99}" type="pres">
      <dgm:prSet presAssocID="{D4E3A30E-8A10-4C7A-995E-1938090BAB1E}" presName="bgRect" presStyleLbl="bgShp" presStyleIdx="6" presStyleCnt="9"/>
      <dgm:spPr/>
    </dgm:pt>
    <dgm:pt modelId="{7AD8FDAB-084B-4F28-AFB8-FAB99DD0A60F}" type="pres">
      <dgm:prSet presAssocID="{D4E3A30E-8A10-4C7A-995E-1938090BAB1E}" presName="iconRect" presStyleLbl="node1" presStyleIdx="6" presStyleCnt="9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F777748A-852C-45A6-B006-C89ACA542166}" type="pres">
      <dgm:prSet presAssocID="{D4E3A30E-8A10-4C7A-995E-1938090BAB1E}" presName="spaceRect" presStyleCnt="0"/>
      <dgm:spPr/>
    </dgm:pt>
    <dgm:pt modelId="{1EA1F4AE-55DE-428F-BB13-7016031877E1}" type="pres">
      <dgm:prSet presAssocID="{D4E3A30E-8A10-4C7A-995E-1938090BAB1E}" presName="parTx" presStyleLbl="revTx" presStyleIdx="6" presStyleCnt="9">
        <dgm:presLayoutVars>
          <dgm:chMax val="0"/>
          <dgm:chPref val="0"/>
        </dgm:presLayoutVars>
      </dgm:prSet>
      <dgm:spPr/>
    </dgm:pt>
    <dgm:pt modelId="{0BEF1643-DB0F-491E-9EF6-78A501C490AB}" type="pres">
      <dgm:prSet presAssocID="{B274C132-676C-451E-8760-8C7BE36F2A20}" presName="sibTrans" presStyleCnt="0"/>
      <dgm:spPr/>
    </dgm:pt>
    <dgm:pt modelId="{FE0A983C-E578-4DEE-B15C-7E9D4E0479A4}" type="pres">
      <dgm:prSet presAssocID="{776DDCCF-3486-425E-B76F-791A109464CD}" presName="compNode" presStyleCnt="0"/>
      <dgm:spPr/>
    </dgm:pt>
    <dgm:pt modelId="{D3A7CCA0-E6E0-4B1E-80CF-D35A7F05DCAF}" type="pres">
      <dgm:prSet presAssocID="{776DDCCF-3486-425E-B76F-791A109464CD}" presName="bgRect" presStyleLbl="bgShp" presStyleIdx="7" presStyleCnt="9"/>
      <dgm:spPr/>
    </dgm:pt>
    <dgm:pt modelId="{C4FC7A7B-1AB2-4DC4-961B-F8ECE218A24B}" type="pres">
      <dgm:prSet presAssocID="{776DDCCF-3486-425E-B76F-791A109464CD}" presName="iconRect" presStyleLbl="node1" presStyleIdx="7" presStyleCnt="9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 with solid fill"/>
        </a:ext>
      </dgm:extLst>
    </dgm:pt>
    <dgm:pt modelId="{EF924BF5-F82C-4DB0-97A5-12DDA4912034}" type="pres">
      <dgm:prSet presAssocID="{776DDCCF-3486-425E-B76F-791A109464CD}" presName="spaceRect" presStyleCnt="0"/>
      <dgm:spPr/>
    </dgm:pt>
    <dgm:pt modelId="{98827A1E-7D5B-459D-A032-4B564EFFAC03}" type="pres">
      <dgm:prSet presAssocID="{776DDCCF-3486-425E-B76F-791A109464CD}" presName="parTx" presStyleLbl="revTx" presStyleIdx="7" presStyleCnt="9">
        <dgm:presLayoutVars>
          <dgm:chMax val="0"/>
          <dgm:chPref val="0"/>
        </dgm:presLayoutVars>
      </dgm:prSet>
      <dgm:spPr/>
    </dgm:pt>
    <dgm:pt modelId="{5A5770CB-63C8-4D0F-A6C5-85C209FD498F}" type="pres">
      <dgm:prSet presAssocID="{D1FE7D00-0FE0-4D8F-AB7C-EDB1C4F3906D}" presName="sibTrans" presStyleCnt="0"/>
      <dgm:spPr/>
    </dgm:pt>
    <dgm:pt modelId="{D2451A1E-69A9-49F0-9B55-122992BB30BA}" type="pres">
      <dgm:prSet presAssocID="{0A15EBAF-D7FE-4F8C-8BC4-9462996E037F}" presName="compNode" presStyleCnt="0"/>
      <dgm:spPr/>
    </dgm:pt>
    <dgm:pt modelId="{F5BB0AE6-06AC-46A0-9808-661ACC316D77}" type="pres">
      <dgm:prSet presAssocID="{0A15EBAF-D7FE-4F8C-8BC4-9462996E037F}" presName="bgRect" presStyleLbl="bgShp" presStyleIdx="8" presStyleCnt="9"/>
      <dgm:spPr/>
    </dgm:pt>
    <dgm:pt modelId="{927D85CF-DD91-4FC6-9283-FC9597869906}" type="pres">
      <dgm:prSet presAssocID="{0A15EBAF-D7FE-4F8C-8BC4-9462996E037F}" presName="iconRect" presStyleLbl="node1" presStyleIdx="8" presStyleCnt="9"/>
      <dgm:spPr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 with solid fill"/>
        </a:ext>
      </dgm:extLst>
    </dgm:pt>
    <dgm:pt modelId="{51992483-09E3-4A12-BB7A-B384AF5EB155}" type="pres">
      <dgm:prSet presAssocID="{0A15EBAF-D7FE-4F8C-8BC4-9462996E037F}" presName="spaceRect" presStyleCnt="0"/>
      <dgm:spPr/>
    </dgm:pt>
    <dgm:pt modelId="{87BA2C34-E67D-4461-8AB7-9AC9DF16D15E}" type="pres">
      <dgm:prSet presAssocID="{0A15EBAF-D7FE-4F8C-8BC4-9462996E037F}" presName="parTx" presStyleLbl="revTx" presStyleIdx="8" presStyleCnt="9">
        <dgm:presLayoutVars>
          <dgm:chMax val="0"/>
          <dgm:chPref val="0"/>
        </dgm:presLayoutVars>
      </dgm:prSet>
      <dgm:spPr/>
    </dgm:pt>
  </dgm:ptLst>
  <dgm:cxnLst>
    <dgm:cxn modelId="{0B31C22B-A020-429E-B4DE-359FE27D02F2}" type="presOf" srcId="{0299B6AF-B55E-42FA-940A-DE3A21C02715}" destId="{648EC935-373C-4A69-837F-6123EC0751E2}" srcOrd="0" destOrd="0" presId="urn:microsoft.com/office/officeart/2018/2/layout/IconVerticalSolidList"/>
    <dgm:cxn modelId="{4B64573C-6093-45F7-8B77-B93A80D7A673}" srcId="{79DF0D0D-9F45-4873-90FD-5FB2CD6CEB5E}" destId="{0299B6AF-B55E-42FA-940A-DE3A21C02715}" srcOrd="2" destOrd="0" parTransId="{191AA472-7A7D-4D36-9C98-E3E993A81688}" sibTransId="{A5800798-5EDF-4692-8473-75A6BA3BA009}"/>
    <dgm:cxn modelId="{E549614C-D2F5-46F0-979F-36D9D212DA87}" type="presOf" srcId="{75342BE2-E012-41D3-A463-A47677954238}" destId="{83B1F3CC-524E-43B0-A638-AF9EC5F62C8B}" srcOrd="0" destOrd="0" presId="urn:microsoft.com/office/officeart/2018/2/layout/IconVerticalSolidList"/>
    <dgm:cxn modelId="{269D6B59-CBB7-4F35-A7C8-9D841A99B2D6}" srcId="{79DF0D0D-9F45-4873-90FD-5FB2CD6CEB5E}" destId="{D4E3A30E-8A10-4C7A-995E-1938090BAB1E}" srcOrd="6" destOrd="0" parTransId="{1889B2CC-6A14-4AA5-BB2F-D0640201CA06}" sibTransId="{B274C132-676C-451E-8760-8C7BE36F2A20}"/>
    <dgm:cxn modelId="{F89C435B-A603-42DF-8EB8-4F339C5E2248}" srcId="{79DF0D0D-9F45-4873-90FD-5FB2CD6CEB5E}" destId="{1E2913D8-98B7-4D32-998F-D65473EA8F4B}" srcOrd="5" destOrd="0" parTransId="{88216014-480E-4E5A-B966-9DC16B748A46}" sibTransId="{5A1E571B-522A-4385-B697-2E5E0A1786A6}"/>
    <dgm:cxn modelId="{AEFA3F69-374B-4D9B-B9DF-A7373C225EF3}" type="presOf" srcId="{D918F1A4-D7E5-489E-AA3E-CC97840B1EB4}" destId="{681B0C97-A820-4EDF-83DF-AB9AC1760ED9}" srcOrd="0" destOrd="0" presId="urn:microsoft.com/office/officeart/2018/2/layout/IconVerticalSolidList"/>
    <dgm:cxn modelId="{2332266C-5357-4830-9176-998B6D38C9EF}" type="presOf" srcId="{0A15EBAF-D7FE-4F8C-8BC4-9462996E037F}" destId="{87BA2C34-E67D-4461-8AB7-9AC9DF16D15E}" srcOrd="0" destOrd="0" presId="urn:microsoft.com/office/officeart/2018/2/layout/IconVerticalSolidList"/>
    <dgm:cxn modelId="{3BC0A56C-78F5-4383-B269-E8D4BEFAC940}" srcId="{79DF0D0D-9F45-4873-90FD-5FB2CD6CEB5E}" destId="{0A15EBAF-D7FE-4F8C-8BC4-9462996E037F}" srcOrd="8" destOrd="0" parTransId="{19F904F1-9C00-482F-A8BB-A4EE0FDA7EE5}" sibTransId="{8D8FD7C6-09DE-4C98-8121-EAD86FCADF0E}"/>
    <dgm:cxn modelId="{B2F45B74-0761-41F3-8644-3F917B135D50}" srcId="{79DF0D0D-9F45-4873-90FD-5FB2CD6CEB5E}" destId="{91837D2D-0F54-4C7B-9383-48DD7BFD9A80}" srcOrd="0" destOrd="0" parTransId="{A522DBC5-2DC6-4F27-9E53-BCBE302129AD}" sibTransId="{1CC77E7B-1FD9-45D5-B233-F6833E211A5C}"/>
    <dgm:cxn modelId="{35BA4B85-97DE-4E62-9F6B-0E73297F9C06}" srcId="{79DF0D0D-9F45-4873-90FD-5FB2CD6CEB5E}" destId="{776DDCCF-3486-425E-B76F-791A109464CD}" srcOrd="7" destOrd="0" parTransId="{8B25505B-1931-4D59-A46B-C94FDF93338B}" sibTransId="{D1FE7D00-0FE0-4D8F-AB7C-EDB1C4F3906D}"/>
    <dgm:cxn modelId="{80CB6890-9C54-4421-9171-5819AAF73C20}" type="presOf" srcId="{8D7B6945-62B8-4555-B6C7-0E7E56E07CC5}" destId="{EB974445-6349-4D27-9D33-EEE6997F23EB}" srcOrd="0" destOrd="0" presId="urn:microsoft.com/office/officeart/2018/2/layout/IconVerticalSolidList"/>
    <dgm:cxn modelId="{0D2C78BC-FE22-4D19-8BF9-7939B87EC624}" type="presOf" srcId="{91837D2D-0F54-4C7B-9383-48DD7BFD9A80}" destId="{0C3B6004-C877-421B-9B77-A3A391EBB9A8}" srcOrd="0" destOrd="0" presId="urn:microsoft.com/office/officeart/2018/2/layout/IconVerticalSolidList"/>
    <dgm:cxn modelId="{5D18C4C0-F0BA-4D95-84E6-7364BF9ECEE8}" type="presOf" srcId="{79DF0D0D-9F45-4873-90FD-5FB2CD6CEB5E}" destId="{ABCE232D-448A-4132-9CF4-96FACB3CC048}" srcOrd="0" destOrd="0" presId="urn:microsoft.com/office/officeart/2018/2/layout/IconVerticalSolidList"/>
    <dgm:cxn modelId="{333D4ED0-1411-441C-8F2A-ABF0D5BCA58A}" srcId="{79DF0D0D-9F45-4873-90FD-5FB2CD6CEB5E}" destId="{8D7B6945-62B8-4555-B6C7-0E7E56E07CC5}" srcOrd="4" destOrd="0" parTransId="{C84B74EF-1DEB-4B52-A1E8-9C124A3C4CE8}" sibTransId="{974B9DBA-27B1-4202-AD07-BE532BDEB438}"/>
    <dgm:cxn modelId="{2FAF22D2-0877-4B3D-92D0-7B91B892E61D}" type="presOf" srcId="{1E2913D8-98B7-4D32-998F-D65473EA8F4B}" destId="{A4105620-5B9E-43EC-8C2F-7F967247A61E}" srcOrd="0" destOrd="0" presId="urn:microsoft.com/office/officeart/2018/2/layout/IconVerticalSolidList"/>
    <dgm:cxn modelId="{5AA99FDE-CC9A-4689-A765-7CC9F12E92E5}" type="presOf" srcId="{D4E3A30E-8A10-4C7A-995E-1938090BAB1E}" destId="{1EA1F4AE-55DE-428F-BB13-7016031877E1}" srcOrd="0" destOrd="0" presId="urn:microsoft.com/office/officeart/2018/2/layout/IconVerticalSolidList"/>
    <dgm:cxn modelId="{23DAF0DF-AF8B-4156-924A-47D0F65E304E}" type="presOf" srcId="{776DDCCF-3486-425E-B76F-791A109464CD}" destId="{98827A1E-7D5B-459D-A032-4B564EFFAC03}" srcOrd="0" destOrd="0" presId="urn:microsoft.com/office/officeart/2018/2/layout/IconVerticalSolidList"/>
    <dgm:cxn modelId="{BF36ACE7-B564-48D0-88BE-168AB110D406}" srcId="{79DF0D0D-9F45-4873-90FD-5FB2CD6CEB5E}" destId="{D918F1A4-D7E5-489E-AA3E-CC97840B1EB4}" srcOrd="1" destOrd="0" parTransId="{C6B967E8-8311-4BD6-ADE0-DD6EAE430057}" sibTransId="{2A69D09B-5120-4DE2-97E1-90F018BDD53F}"/>
    <dgm:cxn modelId="{C16F5EF3-53C8-43BE-9752-CC68FF135757}" srcId="{79DF0D0D-9F45-4873-90FD-5FB2CD6CEB5E}" destId="{75342BE2-E012-41D3-A463-A47677954238}" srcOrd="3" destOrd="0" parTransId="{F781D7FD-3030-401F-9DF8-0F77AA6DEC93}" sibTransId="{16735A83-EA9D-4E6C-BB67-FB1A002E04C6}"/>
    <dgm:cxn modelId="{6DB53A27-D662-4B81-B23C-9CFA34CC8B64}" type="presParOf" srcId="{ABCE232D-448A-4132-9CF4-96FACB3CC048}" destId="{CD485AB2-F6DC-49D6-BFF4-8D4B11B4CD90}" srcOrd="0" destOrd="0" presId="urn:microsoft.com/office/officeart/2018/2/layout/IconVerticalSolidList"/>
    <dgm:cxn modelId="{48214E92-C021-4216-8D16-FE5AAE068026}" type="presParOf" srcId="{CD485AB2-F6DC-49D6-BFF4-8D4B11B4CD90}" destId="{82484B48-380A-4A2E-8B33-DFCAB05E5E39}" srcOrd="0" destOrd="0" presId="urn:microsoft.com/office/officeart/2018/2/layout/IconVerticalSolidList"/>
    <dgm:cxn modelId="{51ECFCED-279C-43AB-A7F1-09C0ADCBCCBD}" type="presParOf" srcId="{CD485AB2-F6DC-49D6-BFF4-8D4B11B4CD90}" destId="{1D7D77D3-6735-4486-B6D7-4CE22ACF38F6}" srcOrd="1" destOrd="0" presId="urn:microsoft.com/office/officeart/2018/2/layout/IconVerticalSolidList"/>
    <dgm:cxn modelId="{8ACE8C60-6A3A-42E5-978F-F486C4148CB1}" type="presParOf" srcId="{CD485AB2-F6DC-49D6-BFF4-8D4B11B4CD90}" destId="{314C64A1-2FB0-4EA7-87CC-6C7AF90017F4}" srcOrd="2" destOrd="0" presId="urn:microsoft.com/office/officeart/2018/2/layout/IconVerticalSolidList"/>
    <dgm:cxn modelId="{8ADB13EE-784D-4EC0-B108-7FD8B3577A3A}" type="presParOf" srcId="{CD485AB2-F6DC-49D6-BFF4-8D4B11B4CD90}" destId="{0C3B6004-C877-421B-9B77-A3A391EBB9A8}" srcOrd="3" destOrd="0" presId="urn:microsoft.com/office/officeart/2018/2/layout/IconVerticalSolidList"/>
    <dgm:cxn modelId="{6639D159-C100-473F-89A7-F492EB3887E7}" type="presParOf" srcId="{ABCE232D-448A-4132-9CF4-96FACB3CC048}" destId="{596B59C4-22EF-48A9-ACA6-0F0E7C0310D2}" srcOrd="1" destOrd="0" presId="urn:microsoft.com/office/officeart/2018/2/layout/IconVerticalSolidList"/>
    <dgm:cxn modelId="{E995F939-2927-416D-95FD-922CED3B189C}" type="presParOf" srcId="{ABCE232D-448A-4132-9CF4-96FACB3CC048}" destId="{248C34A3-A1B4-4C93-8194-075F6123B964}" srcOrd="2" destOrd="0" presId="urn:microsoft.com/office/officeart/2018/2/layout/IconVerticalSolidList"/>
    <dgm:cxn modelId="{DAF9ECC2-E35F-4A23-BE0B-F3CCB9474C83}" type="presParOf" srcId="{248C34A3-A1B4-4C93-8194-075F6123B964}" destId="{A6AC4967-F6FC-46EA-90D4-6AAA99C70001}" srcOrd="0" destOrd="0" presId="urn:microsoft.com/office/officeart/2018/2/layout/IconVerticalSolidList"/>
    <dgm:cxn modelId="{A6F97429-833A-4CD9-B1B4-B50E8E384130}" type="presParOf" srcId="{248C34A3-A1B4-4C93-8194-075F6123B964}" destId="{F8EB5D7A-FD30-4F45-A695-10AEE0333B3E}" srcOrd="1" destOrd="0" presId="urn:microsoft.com/office/officeart/2018/2/layout/IconVerticalSolidList"/>
    <dgm:cxn modelId="{72C5D329-198C-4278-A092-7E83041CFF91}" type="presParOf" srcId="{248C34A3-A1B4-4C93-8194-075F6123B964}" destId="{A874D8E6-3F86-4B31-82DB-56B337837277}" srcOrd="2" destOrd="0" presId="urn:microsoft.com/office/officeart/2018/2/layout/IconVerticalSolidList"/>
    <dgm:cxn modelId="{56C9A474-5330-4659-BD34-B051B80DA816}" type="presParOf" srcId="{248C34A3-A1B4-4C93-8194-075F6123B964}" destId="{681B0C97-A820-4EDF-83DF-AB9AC1760ED9}" srcOrd="3" destOrd="0" presId="urn:microsoft.com/office/officeart/2018/2/layout/IconVerticalSolidList"/>
    <dgm:cxn modelId="{DC2B2EDB-1E7E-4509-A811-252558F9EFCD}" type="presParOf" srcId="{ABCE232D-448A-4132-9CF4-96FACB3CC048}" destId="{58C9D17D-276B-459F-9790-8EDBC3D92486}" srcOrd="3" destOrd="0" presId="urn:microsoft.com/office/officeart/2018/2/layout/IconVerticalSolidList"/>
    <dgm:cxn modelId="{9C5FC987-C967-4062-9DBF-92FD8EE38C61}" type="presParOf" srcId="{ABCE232D-448A-4132-9CF4-96FACB3CC048}" destId="{97DFDC35-916B-42EA-A78E-38BDF0EC6361}" srcOrd="4" destOrd="0" presId="urn:microsoft.com/office/officeart/2018/2/layout/IconVerticalSolidList"/>
    <dgm:cxn modelId="{4BB19FC5-9895-44A0-8852-DD76D81C4B09}" type="presParOf" srcId="{97DFDC35-916B-42EA-A78E-38BDF0EC6361}" destId="{FEA9F069-9E72-4E31-A0CA-39A012DE8733}" srcOrd="0" destOrd="0" presId="urn:microsoft.com/office/officeart/2018/2/layout/IconVerticalSolidList"/>
    <dgm:cxn modelId="{A344BD0E-6BDB-4041-BAE6-CD586C7ADA9A}" type="presParOf" srcId="{97DFDC35-916B-42EA-A78E-38BDF0EC6361}" destId="{53A3B3E9-30DC-4A53-821A-E8AAE943A437}" srcOrd="1" destOrd="0" presId="urn:microsoft.com/office/officeart/2018/2/layout/IconVerticalSolidList"/>
    <dgm:cxn modelId="{1CA097BD-C44B-4127-87C4-63249A90D609}" type="presParOf" srcId="{97DFDC35-916B-42EA-A78E-38BDF0EC6361}" destId="{9080879A-636F-4F89-99FD-1F70BEE0F7CE}" srcOrd="2" destOrd="0" presId="urn:microsoft.com/office/officeart/2018/2/layout/IconVerticalSolidList"/>
    <dgm:cxn modelId="{19FEBABF-F3D6-42D5-974E-A2368C8992C6}" type="presParOf" srcId="{97DFDC35-916B-42EA-A78E-38BDF0EC6361}" destId="{648EC935-373C-4A69-837F-6123EC0751E2}" srcOrd="3" destOrd="0" presId="urn:microsoft.com/office/officeart/2018/2/layout/IconVerticalSolidList"/>
    <dgm:cxn modelId="{865018FF-FC20-422F-A38A-5B01FC745C4F}" type="presParOf" srcId="{ABCE232D-448A-4132-9CF4-96FACB3CC048}" destId="{15EE4603-1FB5-4F50-B699-36ECEDF40E86}" srcOrd="5" destOrd="0" presId="urn:microsoft.com/office/officeart/2018/2/layout/IconVerticalSolidList"/>
    <dgm:cxn modelId="{B5991523-9249-42DD-9004-129178CB83C4}" type="presParOf" srcId="{ABCE232D-448A-4132-9CF4-96FACB3CC048}" destId="{9BA296F0-B2C8-4F71-ABF2-C7829714C5F4}" srcOrd="6" destOrd="0" presId="urn:microsoft.com/office/officeart/2018/2/layout/IconVerticalSolidList"/>
    <dgm:cxn modelId="{7758F688-C538-4166-934E-A690B79E2912}" type="presParOf" srcId="{9BA296F0-B2C8-4F71-ABF2-C7829714C5F4}" destId="{5000E3F9-8A30-47B7-822F-05643AD600EF}" srcOrd="0" destOrd="0" presId="urn:microsoft.com/office/officeart/2018/2/layout/IconVerticalSolidList"/>
    <dgm:cxn modelId="{4D954C01-9EE0-406B-A19C-F2C308F94EFB}" type="presParOf" srcId="{9BA296F0-B2C8-4F71-ABF2-C7829714C5F4}" destId="{7F21611C-758B-4250-A787-B039FF0DD1BB}" srcOrd="1" destOrd="0" presId="urn:microsoft.com/office/officeart/2018/2/layout/IconVerticalSolidList"/>
    <dgm:cxn modelId="{DA1F4D61-DCA5-4F87-BB05-F02AF338BAF3}" type="presParOf" srcId="{9BA296F0-B2C8-4F71-ABF2-C7829714C5F4}" destId="{0B8F2A76-FDE7-4EA3-A49F-A005D22ACB76}" srcOrd="2" destOrd="0" presId="urn:microsoft.com/office/officeart/2018/2/layout/IconVerticalSolidList"/>
    <dgm:cxn modelId="{74352AAF-E751-4AE7-AF4C-FE42C31D2F32}" type="presParOf" srcId="{9BA296F0-B2C8-4F71-ABF2-C7829714C5F4}" destId="{83B1F3CC-524E-43B0-A638-AF9EC5F62C8B}" srcOrd="3" destOrd="0" presId="urn:microsoft.com/office/officeart/2018/2/layout/IconVerticalSolidList"/>
    <dgm:cxn modelId="{0CD869B3-1B0F-4B90-B93D-92F2069EA916}" type="presParOf" srcId="{ABCE232D-448A-4132-9CF4-96FACB3CC048}" destId="{E6AAFB79-8A39-4D79-884A-1268BB17C499}" srcOrd="7" destOrd="0" presId="urn:microsoft.com/office/officeart/2018/2/layout/IconVerticalSolidList"/>
    <dgm:cxn modelId="{111393B6-D41A-477C-B0D4-AFE9683C1F07}" type="presParOf" srcId="{ABCE232D-448A-4132-9CF4-96FACB3CC048}" destId="{8E726CED-187A-494E-B2D0-73CB09DD2290}" srcOrd="8" destOrd="0" presId="urn:microsoft.com/office/officeart/2018/2/layout/IconVerticalSolidList"/>
    <dgm:cxn modelId="{EB326FDA-3E05-4104-A407-24FA9D090F6C}" type="presParOf" srcId="{8E726CED-187A-494E-B2D0-73CB09DD2290}" destId="{AC1E5C36-38DA-4857-9B83-3F46420B17EF}" srcOrd="0" destOrd="0" presId="urn:microsoft.com/office/officeart/2018/2/layout/IconVerticalSolidList"/>
    <dgm:cxn modelId="{81ACA617-6384-45B5-9A21-7928BB15AE65}" type="presParOf" srcId="{8E726CED-187A-494E-B2D0-73CB09DD2290}" destId="{95F2EA7A-EAE3-4574-8796-1DF34B7E4CC2}" srcOrd="1" destOrd="0" presId="urn:microsoft.com/office/officeart/2018/2/layout/IconVerticalSolidList"/>
    <dgm:cxn modelId="{0CDCA7FE-4E53-4F65-9AD6-7E224007E77E}" type="presParOf" srcId="{8E726CED-187A-494E-B2D0-73CB09DD2290}" destId="{B37AF81D-CCF6-444E-B475-CF39EFE8EE8E}" srcOrd="2" destOrd="0" presId="urn:microsoft.com/office/officeart/2018/2/layout/IconVerticalSolidList"/>
    <dgm:cxn modelId="{F4CE040E-E304-4FB5-A288-C4E79EA3CA9A}" type="presParOf" srcId="{8E726CED-187A-494E-B2D0-73CB09DD2290}" destId="{EB974445-6349-4D27-9D33-EEE6997F23EB}" srcOrd="3" destOrd="0" presId="urn:microsoft.com/office/officeart/2018/2/layout/IconVerticalSolidList"/>
    <dgm:cxn modelId="{014DA263-657A-4BEC-A6CC-AF63FB41DA1A}" type="presParOf" srcId="{ABCE232D-448A-4132-9CF4-96FACB3CC048}" destId="{D4484B85-D924-4B27-9FC7-453E95EBBF4B}" srcOrd="9" destOrd="0" presId="urn:microsoft.com/office/officeart/2018/2/layout/IconVerticalSolidList"/>
    <dgm:cxn modelId="{93B097C5-E9EE-4C4D-8AF3-FB348836DBAE}" type="presParOf" srcId="{ABCE232D-448A-4132-9CF4-96FACB3CC048}" destId="{5D8A4335-E451-49AD-BC33-1D6FA57CBEE8}" srcOrd="10" destOrd="0" presId="urn:microsoft.com/office/officeart/2018/2/layout/IconVerticalSolidList"/>
    <dgm:cxn modelId="{8B62D34B-B087-4F46-AB4E-CC4D00569374}" type="presParOf" srcId="{5D8A4335-E451-49AD-BC33-1D6FA57CBEE8}" destId="{9C15B7C8-3647-419C-9C3A-2D4C43E3F670}" srcOrd="0" destOrd="0" presId="urn:microsoft.com/office/officeart/2018/2/layout/IconVerticalSolidList"/>
    <dgm:cxn modelId="{AD476DCB-9961-42DF-8FD0-442636F7825A}" type="presParOf" srcId="{5D8A4335-E451-49AD-BC33-1D6FA57CBEE8}" destId="{D02E515B-DF89-412D-9C9E-8ADD0F85505B}" srcOrd="1" destOrd="0" presId="urn:microsoft.com/office/officeart/2018/2/layout/IconVerticalSolidList"/>
    <dgm:cxn modelId="{090BC2D3-E2EA-4B85-A569-FB9F13F8A35B}" type="presParOf" srcId="{5D8A4335-E451-49AD-BC33-1D6FA57CBEE8}" destId="{C9F26F34-6499-4777-A26D-C575353D0AA8}" srcOrd="2" destOrd="0" presId="urn:microsoft.com/office/officeart/2018/2/layout/IconVerticalSolidList"/>
    <dgm:cxn modelId="{C67EC76E-B796-4195-8FBA-291E1249A345}" type="presParOf" srcId="{5D8A4335-E451-49AD-BC33-1D6FA57CBEE8}" destId="{A4105620-5B9E-43EC-8C2F-7F967247A61E}" srcOrd="3" destOrd="0" presId="urn:microsoft.com/office/officeart/2018/2/layout/IconVerticalSolidList"/>
    <dgm:cxn modelId="{50CBBDD3-4558-4D18-8D90-32B617B2F4FC}" type="presParOf" srcId="{ABCE232D-448A-4132-9CF4-96FACB3CC048}" destId="{35D5369E-35BC-47A5-AFB8-54C1304CCBA4}" srcOrd="11" destOrd="0" presId="urn:microsoft.com/office/officeart/2018/2/layout/IconVerticalSolidList"/>
    <dgm:cxn modelId="{64C4E7DE-CFC7-4FD0-AFEC-F86665FB9591}" type="presParOf" srcId="{ABCE232D-448A-4132-9CF4-96FACB3CC048}" destId="{6F819149-7817-409A-B953-81B22A6E055C}" srcOrd="12" destOrd="0" presId="urn:microsoft.com/office/officeart/2018/2/layout/IconVerticalSolidList"/>
    <dgm:cxn modelId="{0D2941FB-06B2-4063-990C-7197396B1E53}" type="presParOf" srcId="{6F819149-7817-409A-B953-81B22A6E055C}" destId="{85B6C4B1-F120-4191-8C9B-20380627DE99}" srcOrd="0" destOrd="0" presId="urn:microsoft.com/office/officeart/2018/2/layout/IconVerticalSolidList"/>
    <dgm:cxn modelId="{CAD7644F-8A2C-457A-A871-E56CA15EFF09}" type="presParOf" srcId="{6F819149-7817-409A-B953-81B22A6E055C}" destId="{7AD8FDAB-084B-4F28-AFB8-FAB99DD0A60F}" srcOrd="1" destOrd="0" presId="urn:microsoft.com/office/officeart/2018/2/layout/IconVerticalSolidList"/>
    <dgm:cxn modelId="{491D171C-4542-4D18-A35C-BEFC2F066F64}" type="presParOf" srcId="{6F819149-7817-409A-B953-81B22A6E055C}" destId="{F777748A-852C-45A6-B006-C89ACA542166}" srcOrd="2" destOrd="0" presId="urn:microsoft.com/office/officeart/2018/2/layout/IconVerticalSolidList"/>
    <dgm:cxn modelId="{D7C42D21-2E5C-4217-B6EF-8DFB82F0FFD0}" type="presParOf" srcId="{6F819149-7817-409A-B953-81B22A6E055C}" destId="{1EA1F4AE-55DE-428F-BB13-7016031877E1}" srcOrd="3" destOrd="0" presId="urn:microsoft.com/office/officeart/2018/2/layout/IconVerticalSolidList"/>
    <dgm:cxn modelId="{F6A4EBE9-07F4-4823-B7A2-93A9C82685A9}" type="presParOf" srcId="{ABCE232D-448A-4132-9CF4-96FACB3CC048}" destId="{0BEF1643-DB0F-491E-9EF6-78A501C490AB}" srcOrd="13" destOrd="0" presId="urn:microsoft.com/office/officeart/2018/2/layout/IconVerticalSolidList"/>
    <dgm:cxn modelId="{FB6F1122-0FC0-4056-8F97-3BED6C53FE27}" type="presParOf" srcId="{ABCE232D-448A-4132-9CF4-96FACB3CC048}" destId="{FE0A983C-E578-4DEE-B15C-7E9D4E0479A4}" srcOrd="14" destOrd="0" presId="urn:microsoft.com/office/officeart/2018/2/layout/IconVerticalSolidList"/>
    <dgm:cxn modelId="{8DF77F53-9321-40E6-A691-D5957729B709}" type="presParOf" srcId="{FE0A983C-E578-4DEE-B15C-7E9D4E0479A4}" destId="{D3A7CCA0-E6E0-4B1E-80CF-D35A7F05DCAF}" srcOrd="0" destOrd="0" presId="urn:microsoft.com/office/officeart/2018/2/layout/IconVerticalSolidList"/>
    <dgm:cxn modelId="{927FA004-49E3-4C60-8804-A51EDFABC24C}" type="presParOf" srcId="{FE0A983C-E578-4DEE-B15C-7E9D4E0479A4}" destId="{C4FC7A7B-1AB2-4DC4-961B-F8ECE218A24B}" srcOrd="1" destOrd="0" presId="urn:microsoft.com/office/officeart/2018/2/layout/IconVerticalSolidList"/>
    <dgm:cxn modelId="{3ED7DB7E-EC7E-4363-B7C6-403163B0D851}" type="presParOf" srcId="{FE0A983C-E578-4DEE-B15C-7E9D4E0479A4}" destId="{EF924BF5-F82C-4DB0-97A5-12DDA4912034}" srcOrd="2" destOrd="0" presId="urn:microsoft.com/office/officeart/2018/2/layout/IconVerticalSolidList"/>
    <dgm:cxn modelId="{3A2501E5-2755-49DC-AF29-D7B93FD13EB0}" type="presParOf" srcId="{FE0A983C-E578-4DEE-B15C-7E9D4E0479A4}" destId="{98827A1E-7D5B-459D-A032-4B564EFFAC03}" srcOrd="3" destOrd="0" presId="urn:microsoft.com/office/officeart/2018/2/layout/IconVerticalSolidList"/>
    <dgm:cxn modelId="{7AD5CE3B-1C86-4853-A0BD-73F760D47144}" type="presParOf" srcId="{ABCE232D-448A-4132-9CF4-96FACB3CC048}" destId="{5A5770CB-63C8-4D0F-A6C5-85C209FD498F}" srcOrd="15" destOrd="0" presId="urn:microsoft.com/office/officeart/2018/2/layout/IconVerticalSolidList"/>
    <dgm:cxn modelId="{C1FBE426-B4D0-4C6D-B3FA-99FC534687C4}" type="presParOf" srcId="{ABCE232D-448A-4132-9CF4-96FACB3CC048}" destId="{D2451A1E-69A9-49F0-9B55-122992BB30BA}" srcOrd="16" destOrd="0" presId="urn:microsoft.com/office/officeart/2018/2/layout/IconVerticalSolidList"/>
    <dgm:cxn modelId="{0991D3A8-7DD0-4BAF-AFBB-D46B8491C342}" type="presParOf" srcId="{D2451A1E-69A9-49F0-9B55-122992BB30BA}" destId="{F5BB0AE6-06AC-46A0-9808-661ACC316D77}" srcOrd="0" destOrd="0" presId="urn:microsoft.com/office/officeart/2018/2/layout/IconVerticalSolidList"/>
    <dgm:cxn modelId="{CDB5988B-3F97-4D1D-A370-E7838759F4DA}" type="presParOf" srcId="{D2451A1E-69A9-49F0-9B55-122992BB30BA}" destId="{927D85CF-DD91-4FC6-9283-FC9597869906}" srcOrd="1" destOrd="0" presId="urn:microsoft.com/office/officeart/2018/2/layout/IconVerticalSolidList"/>
    <dgm:cxn modelId="{F009B8A0-DDFC-4433-B4D4-1FE124247C9C}" type="presParOf" srcId="{D2451A1E-69A9-49F0-9B55-122992BB30BA}" destId="{51992483-09E3-4A12-BB7A-B384AF5EB155}" srcOrd="2" destOrd="0" presId="urn:microsoft.com/office/officeart/2018/2/layout/IconVerticalSolidList"/>
    <dgm:cxn modelId="{14DE486E-F825-4A1F-942A-4ACED248C008}" type="presParOf" srcId="{D2451A1E-69A9-49F0-9B55-122992BB30BA}" destId="{87BA2C34-E67D-4461-8AB7-9AC9DF16D1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5F6256-F3C6-4E43-91A2-D52B0EDF9EC8}" type="doc">
      <dgm:prSet loTypeId="urn:microsoft.com/office/officeart/2005/8/layout/hierarchy1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4473E042-E61D-4051-AF03-FE6E7260A023}">
      <dgm:prSet custT="1"/>
      <dgm:spPr/>
      <dgm:t>
        <a:bodyPr/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badi"/>
              <a:ea typeface="+mn-ea"/>
              <a:cs typeface="+mn-cs"/>
            </a:rPr>
            <a:t>Jacqueline Beltran 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badi"/>
              <a:ea typeface="+mn-ea"/>
              <a:cs typeface="+mn-cs"/>
            </a:rPr>
            <a:t>MBA/MSHR</a:t>
          </a:r>
        </a:p>
      </dgm:t>
    </dgm:pt>
    <dgm:pt modelId="{63BD9D4B-6F92-4C46-B974-CFE63ADEA540}" type="parTrans" cxnId="{B92C0CC2-A31A-46AB-B635-EFFDA43C43F2}">
      <dgm:prSet/>
      <dgm:spPr/>
      <dgm:t>
        <a:bodyPr/>
        <a:lstStyle/>
        <a:p>
          <a:endParaRPr lang="en-US"/>
        </a:p>
      </dgm:t>
    </dgm:pt>
    <dgm:pt modelId="{846CAF6B-DF02-443E-8014-EF6C83D50957}" type="sibTrans" cxnId="{B92C0CC2-A31A-46AB-B635-EFFDA43C43F2}">
      <dgm:prSet/>
      <dgm:spPr/>
      <dgm:t>
        <a:bodyPr/>
        <a:lstStyle/>
        <a:p>
          <a:endParaRPr lang="en-US"/>
        </a:p>
      </dgm:t>
    </dgm:pt>
    <dgm:pt modelId="{42FC47FF-95B2-4833-942E-34A685E85E39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 b="1">
              <a:latin typeface="Abadi"/>
              <a:ea typeface="+mn-ea"/>
              <a:cs typeface="+mn-cs"/>
            </a:rPr>
            <a:t>Kishan S B </a:t>
          </a:r>
        </a:p>
        <a:p>
          <a:pPr algn="ctr" rtl="0">
            <a:lnSpc>
              <a:spcPct val="90000"/>
            </a:lnSpc>
          </a:pPr>
          <a:r>
            <a:rPr lang="en-US" sz="2000" b="1">
              <a:latin typeface="Abadi"/>
              <a:ea typeface="+mn-ea"/>
              <a:cs typeface="+mn-cs"/>
            </a:rPr>
            <a:t>Masters of Business Analytics</a:t>
          </a:r>
          <a:endParaRPr lang="en-US" sz="2000" b="1">
            <a:latin typeface="Abadi" panose="020B0604020104020204" pitchFamily="34" charset="0"/>
            <a:ea typeface="+mn-ea"/>
            <a:cs typeface="+mn-cs"/>
          </a:endParaRPr>
        </a:p>
      </dgm:t>
    </dgm:pt>
    <dgm:pt modelId="{E6F469C2-3EC7-4E3E-9FFA-0C0AF92EE84E}" type="parTrans" cxnId="{94B6C94C-8202-4547-BF99-DED9132B565F}">
      <dgm:prSet/>
      <dgm:spPr/>
      <dgm:t>
        <a:bodyPr/>
        <a:lstStyle/>
        <a:p>
          <a:endParaRPr lang="en-US"/>
        </a:p>
      </dgm:t>
    </dgm:pt>
    <dgm:pt modelId="{408A3997-3CD0-41EA-B04C-0354D921E47B}" type="sibTrans" cxnId="{94B6C94C-8202-4547-BF99-DED9132B565F}">
      <dgm:prSet/>
      <dgm:spPr/>
      <dgm:t>
        <a:bodyPr/>
        <a:lstStyle/>
        <a:p>
          <a:endParaRPr lang="en-US"/>
        </a:p>
      </dgm:t>
    </dgm:pt>
    <dgm:pt modelId="{DFF64CE7-20D6-4579-8B72-193114B9FD9C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700" b="1" err="1">
              <a:latin typeface="Abadi"/>
              <a:ea typeface="+mn-ea"/>
              <a:cs typeface="+mn-cs"/>
            </a:rPr>
            <a:t>Mrunalinee</a:t>
          </a:r>
          <a:r>
            <a:rPr lang="en-US" sz="1700" b="1">
              <a:latin typeface="Abadi"/>
              <a:ea typeface="+mn-ea"/>
              <a:cs typeface="+mn-cs"/>
            </a:rPr>
            <a:t> Desai </a:t>
          </a:r>
        </a:p>
        <a:p>
          <a:pPr algn="ctr">
            <a:lnSpc>
              <a:spcPct val="90000"/>
            </a:lnSpc>
          </a:pPr>
          <a:r>
            <a:rPr lang="en-US" sz="1700" b="1">
              <a:latin typeface="Abadi"/>
              <a:ea typeface="+mn-ea"/>
              <a:cs typeface="+mn-cs"/>
            </a:rPr>
            <a:t>(Project Manager) </a:t>
          </a:r>
        </a:p>
        <a:p>
          <a:pPr algn="ctr">
            <a:lnSpc>
              <a:spcPct val="90000"/>
            </a:lnSpc>
          </a:pPr>
          <a:r>
            <a:rPr lang="en-US" sz="1700" b="1">
              <a:latin typeface="Abadi"/>
              <a:ea typeface="+mn-ea"/>
              <a:cs typeface="+mn-cs"/>
            </a:rPr>
            <a:t>Masters of Information Systems</a:t>
          </a:r>
          <a:endParaRPr lang="en-US" sz="1700" b="1">
            <a:latin typeface="Abadi" panose="020B0604020104020204" pitchFamily="34" charset="0"/>
            <a:ea typeface="+mn-ea"/>
            <a:cs typeface="+mn-cs"/>
          </a:endParaRPr>
        </a:p>
      </dgm:t>
    </dgm:pt>
    <dgm:pt modelId="{9AB97756-8B31-4DBB-A556-7B0006DE92F5}" type="parTrans" cxnId="{1B613A5B-F7F5-47AA-A4B1-D7D732461F3D}">
      <dgm:prSet/>
      <dgm:spPr/>
      <dgm:t>
        <a:bodyPr/>
        <a:lstStyle/>
        <a:p>
          <a:endParaRPr lang="en-US"/>
        </a:p>
      </dgm:t>
    </dgm:pt>
    <dgm:pt modelId="{627E3433-94C1-42C8-ACDE-F78DAF7F63F8}" type="sibTrans" cxnId="{1B613A5B-F7F5-47AA-A4B1-D7D732461F3D}">
      <dgm:prSet/>
      <dgm:spPr/>
      <dgm:t>
        <a:bodyPr/>
        <a:lstStyle/>
        <a:p>
          <a:endParaRPr lang="en-US"/>
        </a:p>
      </dgm:t>
    </dgm:pt>
    <dgm:pt modelId="{CE1A9C81-C6D2-4C85-87D4-E4AF546C9C50}" type="pres">
      <dgm:prSet presAssocID="{075F6256-F3C6-4E43-91A2-D52B0EDF9E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FAB495C-25CB-4809-B173-1E892C76881C}" type="pres">
      <dgm:prSet presAssocID="{4473E042-E61D-4051-AF03-FE6E7260A023}" presName="hierRoot1" presStyleCnt="0"/>
      <dgm:spPr/>
    </dgm:pt>
    <dgm:pt modelId="{7E3039D9-E00B-478F-AF7B-A0A991592F73}" type="pres">
      <dgm:prSet presAssocID="{4473E042-E61D-4051-AF03-FE6E7260A023}" presName="composite" presStyleCnt="0"/>
      <dgm:spPr/>
    </dgm:pt>
    <dgm:pt modelId="{08B9BECD-F9C5-4B44-9E29-7AAEC3D37582}" type="pres">
      <dgm:prSet presAssocID="{4473E042-E61D-4051-AF03-FE6E7260A023}" presName="background" presStyleLbl="node0" presStyleIdx="0" presStyleCnt="3"/>
      <dgm:spPr/>
    </dgm:pt>
    <dgm:pt modelId="{C833098E-6BF4-4BB1-8201-65850C5A3427}" type="pres">
      <dgm:prSet presAssocID="{4473E042-E61D-4051-AF03-FE6E7260A023}" presName="text" presStyleLbl="fgAcc0" presStyleIdx="0" presStyleCnt="3" custLinFactY="4213" custLinFactNeighborX="-12590" custLinFactNeighborY="100000">
        <dgm:presLayoutVars>
          <dgm:chPref val="3"/>
        </dgm:presLayoutVars>
      </dgm:prSet>
      <dgm:spPr/>
    </dgm:pt>
    <dgm:pt modelId="{B3D1CAAB-5B45-44CA-987E-9BCBE704D921}" type="pres">
      <dgm:prSet presAssocID="{4473E042-E61D-4051-AF03-FE6E7260A023}" presName="hierChild2" presStyleCnt="0"/>
      <dgm:spPr/>
    </dgm:pt>
    <dgm:pt modelId="{C0DDEE9D-CD83-4E63-96EE-51A47A48B3B4}" type="pres">
      <dgm:prSet presAssocID="{42FC47FF-95B2-4833-942E-34A685E85E39}" presName="hierRoot1" presStyleCnt="0"/>
      <dgm:spPr/>
    </dgm:pt>
    <dgm:pt modelId="{5A6E9402-3F11-49F9-951F-7B85A205F531}" type="pres">
      <dgm:prSet presAssocID="{42FC47FF-95B2-4833-942E-34A685E85E39}" presName="composite" presStyleCnt="0"/>
      <dgm:spPr/>
    </dgm:pt>
    <dgm:pt modelId="{72093AB4-29F6-4B30-9BBF-4B6FC3C5CA3D}" type="pres">
      <dgm:prSet presAssocID="{42FC47FF-95B2-4833-942E-34A685E85E39}" presName="background" presStyleLbl="node0" presStyleIdx="1" presStyleCnt="3"/>
      <dgm:spPr/>
    </dgm:pt>
    <dgm:pt modelId="{11B3C291-B4BE-45C8-963D-9AD34735D33F}" type="pres">
      <dgm:prSet presAssocID="{42FC47FF-95B2-4833-942E-34A685E85E39}" presName="text" presStyleLbl="fgAcc0" presStyleIdx="1" presStyleCnt="3" custLinFactY="4213" custLinFactNeighborX="-12206" custLinFactNeighborY="100000">
        <dgm:presLayoutVars>
          <dgm:chPref val="3"/>
        </dgm:presLayoutVars>
      </dgm:prSet>
      <dgm:spPr/>
    </dgm:pt>
    <dgm:pt modelId="{E10E036F-A0C7-4781-ADC7-3394B5B3FE60}" type="pres">
      <dgm:prSet presAssocID="{42FC47FF-95B2-4833-942E-34A685E85E39}" presName="hierChild2" presStyleCnt="0"/>
      <dgm:spPr/>
    </dgm:pt>
    <dgm:pt modelId="{590517F3-9330-492C-84E4-DA13C4826C0A}" type="pres">
      <dgm:prSet presAssocID="{DFF64CE7-20D6-4579-8B72-193114B9FD9C}" presName="hierRoot1" presStyleCnt="0"/>
      <dgm:spPr/>
    </dgm:pt>
    <dgm:pt modelId="{19E89CF5-D833-473B-8974-F3469F80E68D}" type="pres">
      <dgm:prSet presAssocID="{DFF64CE7-20D6-4579-8B72-193114B9FD9C}" presName="composite" presStyleCnt="0"/>
      <dgm:spPr/>
    </dgm:pt>
    <dgm:pt modelId="{8648A8D2-6361-4592-86E0-30CA0B82FB55}" type="pres">
      <dgm:prSet presAssocID="{DFF64CE7-20D6-4579-8B72-193114B9FD9C}" presName="background" presStyleLbl="node0" presStyleIdx="2" presStyleCnt="3"/>
      <dgm:spPr/>
    </dgm:pt>
    <dgm:pt modelId="{0059AA7D-2F46-416C-9809-03EAF3D266E0}" type="pres">
      <dgm:prSet presAssocID="{DFF64CE7-20D6-4579-8B72-193114B9FD9C}" presName="text" presStyleLbl="fgAcc0" presStyleIdx="2" presStyleCnt="3" custLinFactY="6909" custLinFactNeighborX="-14498" custLinFactNeighborY="100000">
        <dgm:presLayoutVars>
          <dgm:chPref val="3"/>
        </dgm:presLayoutVars>
      </dgm:prSet>
      <dgm:spPr/>
    </dgm:pt>
    <dgm:pt modelId="{C56F663B-349B-474E-A09E-09948D8B8632}" type="pres">
      <dgm:prSet presAssocID="{DFF64CE7-20D6-4579-8B72-193114B9FD9C}" presName="hierChild2" presStyleCnt="0"/>
      <dgm:spPr/>
    </dgm:pt>
  </dgm:ptLst>
  <dgm:cxnLst>
    <dgm:cxn modelId="{1B4F7C06-19B7-4D77-84B3-2513D272035A}" type="presOf" srcId="{4473E042-E61D-4051-AF03-FE6E7260A023}" destId="{C833098E-6BF4-4BB1-8201-65850C5A3427}" srcOrd="0" destOrd="0" presId="urn:microsoft.com/office/officeart/2005/8/layout/hierarchy1"/>
    <dgm:cxn modelId="{FB6A910E-6BA4-46BA-9448-4309B32E79DA}" type="presOf" srcId="{DFF64CE7-20D6-4579-8B72-193114B9FD9C}" destId="{0059AA7D-2F46-416C-9809-03EAF3D266E0}" srcOrd="0" destOrd="0" presId="urn:microsoft.com/office/officeart/2005/8/layout/hierarchy1"/>
    <dgm:cxn modelId="{A16D314A-BA23-43F8-A0EC-170109B54A6A}" type="presOf" srcId="{42FC47FF-95B2-4833-942E-34A685E85E39}" destId="{11B3C291-B4BE-45C8-963D-9AD34735D33F}" srcOrd="0" destOrd="0" presId="urn:microsoft.com/office/officeart/2005/8/layout/hierarchy1"/>
    <dgm:cxn modelId="{94B6C94C-8202-4547-BF99-DED9132B565F}" srcId="{075F6256-F3C6-4E43-91A2-D52B0EDF9EC8}" destId="{42FC47FF-95B2-4833-942E-34A685E85E39}" srcOrd="1" destOrd="0" parTransId="{E6F469C2-3EC7-4E3E-9FFA-0C0AF92EE84E}" sibTransId="{408A3997-3CD0-41EA-B04C-0354D921E47B}"/>
    <dgm:cxn modelId="{1B613A5B-F7F5-47AA-A4B1-D7D732461F3D}" srcId="{075F6256-F3C6-4E43-91A2-D52B0EDF9EC8}" destId="{DFF64CE7-20D6-4579-8B72-193114B9FD9C}" srcOrd="2" destOrd="0" parTransId="{9AB97756-8B31-4DBB-A556-7B0006DE92F5}" sibTransId="{627E3433-94C1-42C8-ACDE-F78DAF7F63F8}"/>
    <dgm:cxn modelId="{753BD07F-D6A9-48CA-98E1-B62723F7653C}" type="presOf" srcId="{075F6256-F3C6-4E43-91A2-D52B0EDF9EC8}" destId="{CE1A9C81-C6D2-4C85-87D4-E4AF546C9C50}" srcOrd="0" destOrd="0" presId="urn:microsoft.com/office/officeart/2005/8/layout/hierarchy1"/>
    <dgm:cxn modelId="{B92C0CC2-A31A-46AB-B635-EFFDA43C43F2}" srcId="{075F6256-F3C6-4E43-91A2-D52B0EDF9EC8}" destId="{4473E042-E61D-4051-AF03-FE6E7260A023}" srcOrd="0" destOrd="0" parTransId="{63BD9D4B-6F92-4C46-B974-CFE63ADEA540}" sibTransId="{846CAF6B-DF02-443E-8014-EF6C83D50957}"/>
    <dgm:cxn modelId="{AED492D7-8AF2-48D9-848A-544E5DBA2455}" type="presParOf" srcId="{CE1A9C81-C6D2-4C85-87D4-E4AF546C9C50}" destId="{4FAB495C-25CB-4809-B173-1E892C76881C}" srcOrd="0" destOrd="0" presId="urn:microsoft.com/office/officeart/2005/8/layout/hierarchy1"/>
    <dgm:cxn modelId="{057A70E6-80CA-41EC-9968-F8E30B3D7CBD}" type="presParOf" srcId="{4FAB495C-25CB-4809-B173-1E892C76881C}" destId="{7E3039D9-E00B-478F-AF7B-A0A991592F73}" srcOrd="0" destOrd="0" presId="urn:microsoft.com/office/officeart/2005/8/layout/hierarchy1"/>
    <dgm:cxn modelId="{8209FF6A-A1D7-490B-A34D-E6F4013A3B3C}" type="presParOf" srcId="{7E3039D9-E00B-478F-AF7B-A0A991592F73}" destId="{08B9BECD-F9C5-4B44-9E29-7AAEC3D37582}" srcOrd="0" destOrd="0" presId="urn:microsoft.com/office/officeart/2005/8/layout/hierarchy1"/>
    <dgm:cxn modelId="{4B09431E-6109-41C6-A88D-910505B19B3A}" type="presParOf" srcId="{7E3039D9-E00B-478F-AF7B-A0A991592F73}" destId="{C833098E-6BF4-4BB1-8201-65850C5A3427}" srcOrd="1" destOrd="0" presId="urn:microsoft.com/office/officeart/2005/8/layout/hierarchy1"/>
    <dgm:cxn modelId="{91E2F1DD-19FE-4190-87FA-B011FFE2B437}" type="presParOf" srcId="{4FAB495C-25CB-4809-B173-1E892C76881C}" destId="{B3D1CAAB-5B45-44CA-987E-9BCBE704D921}" srcOrd="1" destOrd="0" presId="urn:microsoft.com/office/officeart/2005/8/layout/hierarchy1"/>
    <dgm:cxn modelId="{1FE85D51-2E1B-4520-8DE1-14E1F373A78F}" type="presParOf" srcId="{CE1A9C81-C6D2-4C85-87D4-E4AF546C9C50}" destId="{C0DDEE9D-CD83-4E63-96EE-51A47A48B3B4}" srcOrd="1" destOrd="0" presId="urn:microsoft.com/office/officeart/2005/8/layout/hierarchy1"/>
    <dgm:cxn modelId="{745B5F5F-C682-409B-AE8F-E4B03DB2AC95}" type="presParOf" srcId="{C0DDEE9D-CD83-4E63-96EE-51A47A48B3B4}" destId="{5A6E9402-3F11-49F9-951F-7B85A205F531}" srcOrd="0" destOrd="0" presId="urn:microsoft.com/office/officeart/2005/8/layout/hierarchy1"/>
    <dgm:cxn modelId="{6363581F-ACA0-45D4-BA87-A2346BD9B980}" type="presParOf" srcId="{5A6E9402-3F11-49F9-951F-7B85A205F531}" destId="{72093AB4-29F6-4B30-9BBF-4B6FC3C5CA3D}" srcOrd="0" destOrd="0" presId="urn:microsoft.com/office/officeart/2005/8/layout/hierarchy1"/>
    <dgm:cxn modelId="{29E6E00B-CD6F-4A99-897F-A7B5848006D3}" type="presParOf" srcId="{5A6E9402-3F11-49F9-951F-7B85A205F531}" destId="{11B3C291-B4BE-45C8-963D-9AD34735D33F}" srcOrd="1" destOrd="0" presId="urn:microsoft.com/office/officeart/2005/8/layout/hierarchy1"/>
    <dgm:cxn modelId="{998682E0-AA33-47B5-B870-7CDC48A21756}" type="presParOf" srcId="{C0DDEE9D-CD83-4E63-96EE-51A47A48B3B4}" destId="{E10E036F-A0C7-4781-ADC7-3394B5B3FE60}" srcOrd="1" destOrd="0" presId="urn:microsoft.com/office/officeart/2005/8/layout/hierarchy1"/>
    <dgm:cxn modelId="{7D03D587-464F-438C-886C-5FA94E998F9B}" type="presParOf" srcId="{CE1A9C81-C6D2-4C85-87D4-E4AF546C9C50}" destId="{590517F3-9330-492C-84E4-DA13C4826C0A}" srcOrd="2" destOrd="0" presId="urn:microsoft.com/office/officeart/2005/8/layout/hierarchy1"/>
    <dgm:cxn modelId="{1A909DB4-4C19-4713-9F3A-09956CBCBA4C}" type="presParOf" srcId="{590517F3-9330-492C-84E4-DA13C4826C0A}" destId="{19E89CF5-D833-473B-8974-F3469F80E68D}" srcOrd="0" destOrd="0" presId="urn:microsoft.com/office/officeart/2005/8/layout/hierarchy1"/>
    <dgm:cxn modelId="{F30AF3BA-DAE3-4181-8678-F1D5EA6C16E7}" type="presParOf" srcId="{19E89CF5-D833-473B-8974-F3469F80E68D}" destId="{8648A8D2-6361-4592-86E0-30CA0B82FB55}" srcOrd="0" destOrd="0" presId="urn:microsoft.com/office/officeart/2005/8/layout/hierarchy1"/>
    <dgm:cxn modelId="{5BFAA8C5-D259-40CC-8A11-731416B90750}" type="presParOf" srcId="{19E89CF5-D833-473B-8974-F3469F80E68D}" destId="{0059AA7D-2F46-416C-9809-03EAF3D266E0}" srcOrd="1" destOrd="0" presId="urn:microsoft.com/office/officeart/2005/8/layout/hierarchy1"/>
    <dgm:cxn modelId="{B500059B-2017-443D-91F9-982D1215039B}" type="presParOf" srcId="{590517F3-9330-492C-84E4-DA13C4826C0A}" destId="{C56F663B-349B-474E-A09E-09948D8B863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BFF990-601B-436F-8061-B6F3A0D496EE}" type="doc">
      <dgm:prSet loTypeId="urn:microsoft.com/office/officeart/2005/8/layout/hList1" loCatId="list" qsTypeId="urn:microsoft.com/office/officeart/2005/8/quickstyle/simple3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DF830C4-3A4B-4A18-A481-1E16A1F6C743}">
      <dgm:prSet/>
      <dgm:spPr/>
      <dgm:t>
        <a:bodyPr/>
        <a:lstStyle/>
        <a:p>
          <a:r>
            <a:rPr lang="en-US" b="1"/>
            <a:t>Short-Term: 0–1 Year</a:t>
          </a:r>
          <a:endParaRPr lang="en-US"/>
        </a:p>
      </dgm:t>
    </dgm:pt>
    <dgm:pt modelId="{306A5395-1D1E-424E-AE94-909F9E445D68}" type="parTrans" cxnId="{9038BA97-43EE-4616-BC10-6C1F74C59B07}">
      <dgm:prSet/>
      <dgm:spPr/>
      <dgm:t>
        <a:bodyPr/>
        <a:lstStyle/>
        <a:p>
          <a:endParaRPr lang="en-US"/>
        </a:p>
      </dgm:t>
    </dgm:pt>
    <dgm:pt modelId="{2F54C578-A3AF-4E3E-8E2C-B3963E8A3D82}" type="sibTrans" cxnId="{9038BA97-43EE-4616-BC10-6C1F74C59B07}">
      <dgm:prSet/>
      <dgm:spPr/>
      <dgm:t>
        <a:bodyPr/>
        <a:lstStyle/>
        <a:p>
          <a:endParaRPr lang="en-US"/>
        </a:p>
      </dgm:t>
    </dgm:pt>
    <dgm:pt modelId="{52F342C6-2091-4F46-ACB5-E0697F26FE7A}">
      <dgm:prSet/>
      <dgm:spPr/>
      <dgm:t>
        <a:bodyPr/>
        <a:lstStyle/>
        <a:p>
          <a:r>
            <a:rPr lang="en-US"/>
            <a:t>Use acting assignments when needed </a:t>
          </a:r>
        </a:p>
      </dgm:t>
    </dgm:pt>
    <dgm:pt modelId="{8CE9A9A8-22C8-4225-8D25-F5838636BBAF}" type="parTrans" cxnId="{D2237C94-6B9B-42C8-86CE-F4C4D66FB0A5}">
      <dgm:prSet/>
      <dgm:spPr/>
      <dgm:t>
        <a:bodyPr/>
        <a:lstStyle/>
        <a:p>
          <a:endParaRPr lang="en-US"/>
        </a:p>
      </dgm:t>
    </dgm:pt>
    <dgm:pt modelId="{8EBB7FF0-4069-4387-A2D7-F8F2A67E3D84}" type="sibTrans" cxnId="{D2237C94-6B9B-42C8-86CE-F4C4D66FB0A5}">
      <dgm:prSet/>
      <dgm:spPr/>
      <dgm:t>
        <a:bodyPr/>
        <a:lstStyle/>
        <a:p>
          <a:endParaRPr lang="en-US"/>
        </a:p>
      </dgm:t>
    </dgm:pt>
    <dgm:pt modelId="{791211DA-8986-441B-B556-13D841DFC8CA}">
      <dgm:prSet/>
      <dgm:spPr/>
      <dgm:t>
        <a:bodyPr/>
        <a:lstStyle/>
        <a:p>
          <a:r>
            <a:rPr lang="en-US"/>
            <a:t>Identify who is closest to being ready </a:t>
          </a:r>
        </a:p>
      </dgm:t>
    </dgm:pt>
    <dgm:pt modelId="{7722F089-A38F-4522-AAC8-8193939E3A59}" type="parTrans" cxnId="{A8BB5046-6E4F-4837-8996-ED086740C885}">
      <dgm:prSet/>
      <dgm:spPr/>
      <dgm:t>
        <a:bodyPr/>
        <a:lstStyle/>
        <a:p>
          <a:endParaRPr lang="en-US"/>
        </a:p>
      </dgm:t>
    </dgm:pt>
    <dgm:pt modelId="{31138A34-A86D-4673-A761-354D49BC2A0F}" type="sibTrans" cxnId="{A8BB5046-6E4F-4837-8996-ED086740C885}">
      <dgm:prSet/>
      <dgm:spPr/>
      <dgm:t>
        <a:bodyPr/>
        <a:lstStyle/>
        <a:p>
          <a:endParaRPr lang="en-US"/>
        </a:p>
      </dgm:t>
    </dgm:pt>
    <dgm:pt modelId="{A7966AD9-6E49-4C45-9052-53D9A179003B}">
      <dgm:prSet/>
      <dgm:spPr/>
      <dgm:t>
        <a:bodyPr/>
        <a:lstStyle/>
        <a:p>
          <a:r>
            <a:rPr lang="en-US"/>
            <a:t>Start individual development plans for each potential successor </a:t>
          </a:r>
        </a:p>
      </dgm:t>
    </dgm:pt>
    <dgm:pt modelId="{50EDCDD5-F549-4EB6-9E70-B80AB3142B28}" type="parTrans" cxnId="{6EB38FBB-7BA4-4771-A482-8D6CAD21D8EF}">
      <dgm:prSet/>
      <dgm:spPr/>
      <dgm:t>
        <a:bodyPr/>
        <a:lstStyle/>
        <a:p>
          <a:endParaRPr lang="en-US"/>
        </a:p>
      </dgm:t>
    </dgm:pt>
    <dgm:pt modelId="{C03AC26E-E367-4108-919D-8DF4E900B2D9}" type="sibTrans" cxnId="{6EB38FBB-7BA4-4771-A482-8D6CAD21D8EF}">
      <dgm:prSet/>
      <dgm:spPr/>
      <dgm:t>
        <a:bodyPr/>
        <a:lstStyle/>
        <a:p>
          <a:endParaRPr lang="en-US"/>
        </a:p>
      </dgm:t>
    </dgm:pt>
    <dgm:pt modelId="{0455948A-CC32-4C33-B0E4-44B1A3072717}">
      <dgm:prSet/>
      <dgm:spPr/>
      <dgm:t>
        <a:bodyPr/>
        <a:lstStyle/>
        <a:p>
          <a:r>
            <a:rPr lang="en-US" b="1"/>
            <a:t>Mid-Term: 1–3 Years</a:t>
          </a:r>
          <a:endParaRPr lang="en-US"/>
        </a:p>
      </dgm:t>
    </dgm:pt>
    <dgm:pt modelId="{750F9CD9-4DDA-462C-8F58-117474B499CA}" type="parTrans" cxnId="{F27023F3-C59F-42B1-8418-8AF0B0D579FB}">
      <dgm:prSet/>
      <dgm:spPr/>
      <dgm:t>
        <a:bodyPr/>
        <a:lstStyle/>
        <a:p>
          <a:endParaRPr lang="en-US"/>
        </a:p>
      </dgm:t>
    </dgm:pt>
    <dgm:pt modelId="{96D542A0-61C0-4668-AB41-660A3C8E143C}" type="sibTrans" cxnId="{F27023F3-C59F-42B1-8418-8AF0B0D579FB}">
      <dgm:prSet/>
      <dgm:spPr/>
      <dgm:t>
        <a:bodyPr/>
        <a:lstStyle/>
        <a:p>
          <a:endParaRPr lang="en-US"/>
        </a:p>
      </dgm:t>
    </dgm:pt>
    <dgm:pt modelId="{AA512405-6ABA-4F8E-BBB2-B9039378F6B4}">
      <dgm:prSet/>
      <dgm:spPr/>
      <dgm:t>
        <a:bodyPr/>
        <a:lstStyle/>
        <a:p>
          <a:r>
            <a:rPr lang="en-US"/>
            <a:t>Help employees complete required certifications </a:t>
          </a:r>
        </a:p>
      </dgm:t>
    </dgm:pt>
    <dgm:pt modelId="{527865A2-86C3-49EB-AE9E-F2EA12912705}" type="parTrans" cxnId="{712C1C8E-3F62-4AE7-BD50-ACF420BB3DB2}">
      <dgm:prSet/>
      <dgm:spPr/>
      <dgm:t>
        <a:bodyPr/>
        <a:lstStyle/>
        <a:p>
          <a:endParaRPr lang="en-US"/>
        </a:p>
      </dgm:t>
    </dgm:pt>
    <dgm:pt modelId="{FE1600DA-8F73-4A0D-9798-53D38F9F1E40}" type="sibTrans" cxnId="{712C1C8E-3F62-4AE7-BD50-ACF420BB3DB2}">
      <dgm:prSet/>
      <dgm:spPr/>
      <dgm:t>
        <a:bodyPr/>
        <a:lstStyle/>
        <a:p>
          <a:endParaRPr lang="en-US"/>
        </a:p>
      </dgm:t>
    </dgm:pt>
    <dgm:pt modelId="{53E55306-15B5-4891-B866-080717F12A31}">
      <dgm:prSet/>
      <dgm:spPr/>
      <dgm:t>
        <a:bodyPr/>
        <a:lstStyle/>
        <a:p>
          <a:r>
            <a:rPr lang="en-US"/>
            <a:t>Give future leaders more shift leadership experience </a:t>
          </a:r>
        </a:p>
      </dgm:t>
    </dgm:pt>
    <dgm:pt modelId="{08EAA9E4-7495-4988-93E1-973871088476}" type="parTrans" cxnId="{6F3AF941-A454-4A92-9C89-938B32EF96FB}">
      <dgm:prSet/>
      <dgm:spPr/>
      <dgm:t>
        <a:bodyPr/>
        <a:lstStyle/>
        <a:p>
          <a:endParaRPr lang="en-US"/>
        </a:p>
      </dgm:t>
    </dgm:pt>
    <dgm:pt modelId="{C3861C85-90ED-4DDB-A9E3-C11AED6E495F}" type="sibTrans" cxnId="{6F3AF941-A454-4A92-9C89-938B32EF96FB}">
      <dgm:prSet/>
      <dgm:spPr/>
      <dgm:t>
        <a:bodyPr/>
        <a:lstStyle/>
        <a:p>
          <a:endParaRPr lang="en-US"/>
        </a:p>
      </dgm:t>
    </dgm:pt>
    <dgm:pt modelId="{BDBB895A-12DC-4BD8-BDD6-9E71E8C4236D}">
      <dgm:prSet/>
      <dgm:spPr/>
      <dgm:t>
        <a:bodyPr/>
        <a:lstStyle/>
        <a:p>
          <a:r>
            <a:rPr lang="en-US"/>
            <a:t>Focus on Driver/Operator to Captain development </a:t>
          </a:r>
        </a:p>
      </dgm:t>
    </dgm:pt>
    <dgm:pt modelId="{38F7EC42-EC58-4E41-ACA1-6EBA3185A2C5}" type="parTrans" cxnId="{1B0E234D-7077-4810-9E25-13D8E5BDA3DF}">
      <dgm:prSet/>
      <dgm:spPr/>
      <dgm:t>
        <a:bodyPr/>
        <a:lstStyle/>
        <a:p>
          <a:endParaRPr lang="en-US"/>
        </a:p>
      </dgm:t>
    </dgm:pt>
    <dgm:pt modelId="{CF98203C-B824-4CFF-BF4F-04BE5B77C975}" type="sibTrans" cxnId="{1B0E234D-7077-4810-9E25-13D8E5BDA3DF}">
      <dgm:prSet/>
      <dgm:spPr/>
      <dgm:t>
        <a:bodyPr/>
        <a:lstStyle/>
        <a:p>
          <a:endParaRPr lang="en-US"/>
        </a:p>
      </dgm:t>
    </dgm:pt>
    <dgm:pt modelId="{3EF7F786-25F6-4C8A-B334-30B5576CD895}">
      <dgm:prSet/>
      <dgm:spPr/>
      <dgm:t>
        <a:bodyPr/>
        <a:lstStyle/>
        <a:p>
          <a:r>
            <a:rPr lang="en-US" b="1"/>
            <a:t>Long-Term: 3–5 Years</a:t>
          </a:r>
          <a:endParaRPr lang="en-US"/>
        </a:p>
      </dgm:t>
    </dgm:pt>
    <dgm:pt modelId="{9AAA49B0-29B7-4327-A71E-DFFCE52B0371}" type="parTrans" cxnId="{7B86E63A-2FF3-4538-AB53-5E48B6A37F5C}">
      <dgm:prSet/>
      <dgm:spPr/>
      <dgm:t>
        <a:bodyPr/>
        <a:lstStyle/>
        <a:p>
          <a:endParaRPr lang="en-US"/>
        </a:p>
      </dgm:t>
    </dgm:pt>
    <dgm:pt modelId="{8BCD8691-7CD6-4769-909B-31FDC6B31E77}" type="sibTrans" cxnId="{7B86E63A-2FF3-4538-AB53-5E48B6A37F5C}">
      <dgm:prSet/>
      <dgm:spPr/>
      <dgm:t>
        <a:bodyPr/>
        <a:lstStyle/>
        <a:p>
          <a:endParaRPr lang="en-US"/>
        </a:p>
      </dgm:t>
    </dgm:pt>
    <dgm:pt modelId="{B66D3DCA-4FED-4AC9-B736-E512F0434D3F}">
      <dgm:prSet/>
      <dgm:spPr/>
      <dgm:t>
        <a:bodyPr/>
        <a:lstStyle/>
        <a:p>
          <a:r>
            <a:rPr lang="en-US"/>
            <a:t>Prepare stronger candidates for Captain and Assistant Chief roles </a:t>
          </a:r>
        </a:p>
      </dgm:t>
    </dgm:pt>
    <dgm:pt modelId="{45550E3F-14F5-4E0D-9AB3-38BC43AFD308}" type="parTrans" cxnId="{04EBB948-D53E-4E40-A497-D3137FB366FA}">
      <dgm:prSet/>
      <dgm:spPr/>
      <dgm:t>
        <a:bodyPr/>
        <a:lstStyle/>
        <a:p>
          <a:endParaRPr lang="en-US"/>
        </a:p>
      </dgm:t>
    </dgm:pt>
    <dgm:pt modelId="{1507938E-629E-4DC8-966F-6A44040E752E}" type="sibTrans" cxnId="{04EBB948-D53E-4E40-A497-D3137FB366FA}">
      <dgm:prSet/>
      <dgm:spPr/>
      <dgm:t>
        <a:bodyPr/>
        <a:lstStyle/>
        <a:p>
          <a:endParaRPr lang="en-US"/>
        </a:p>
      </dgm:t>
    </dgm:pt>
    <dgm:pt modelId="{94E5E0FD-72F4-4BC0-B531-59C18D386964}">
      <dgm:prSet/>
      <dgm:spPr/>
      <dgm:t>
        <a:bodyPr/>
        <a:lstStyle/>
        <a:p>
          <a:r>
            <a:rPr lang="en-US"/>
            <a:t>Build a deeper internal leadership pipeline </a:t>
          </a:r>
        </a:p>
      </dgm:t>
    </dgm:pt>
    <dgm:pt modelId="{81321DDD-CBA6-4EAB-BE2C-ED4BE4DDC3E7}" type="parTrans" cxnId="{3BDF738D-20BF-4B84-A5A6-4A49AA7255E1}">
      <dgm:prSet/>
      <dgm:spPr/>
      <dgm:t>
        <a:bodyPr/>
        <a:lstStyle/>
        <a:p>
          <a:endParaRPr lang="en-US"/>
        </a:p>
      </dgm:t>
    </dgm:pt>
    <dgm:pt modelId="{F49EAA4F-B0B1-4F2B-8164-BD620AD202B3}" type="sibTrans" cxnId="{3BDF738D-20BF-4B84-A5A6-4A49AA7255E1}">
      <dgm:prSet/>
      <dgm:spPr/>
      <dgm:t>
        <a:bodyPr/>
        <a:lstStyle/>
        <a:p>
          <a:endParaRPr lang="en-US"/>
        </a:p>
      </dgm:t>
    </dgm:pt>
    <dgm:pt modelId="{99EECF7F-77F3-493A-9F04-1B1961DB95D9}">
      <dgm:prSet/>
      <dgm:spPr/>
      <dgm:t>
        <a:bodyPr/>
        <a:lstStyle/>
        <a:p>
          <a:r>
            <a:rPr lang="en-US"/>
            <a:t>Reduce dependence on outside hiring </a:t>
          </a:r>
        </a:p>
      </dgm:t>
    </dgm:pt>
    <dgm:pt modelId="{7D5DA7E7-30B1-4BE8-90E6-1CF66804703F}" type="parTrans" cxnId="{9FD41566-C047-44DB-8FCC-167CCC3A2375}">
      <dgm:prSet/>
      <dgm:spPr/>
      <dgm:t>
        <a:bodyPr/>
        <a:lstStyle/>
        <a:p>
          <a:endParaRPr lang="en-US"/>
        </a:p>
      </dgm:t>
    </dgm:pt>
    <dgm:pt modelId="{A90ADD9B-9814-44B8-A4CD-887FC08A94B4}" type="sibTrans" cxnId="{9FD41566-C047-44DB-8FCC-167CCC3A2375}">
      <dgm:prSet/>
      <dgm:spPr/>
      <dgm:t>
        <a:bodyPr/>
        <a:lstStyle/>
        <a:p>
          <a:endParaRPr lang="en-US"/>
        </a:p>
      </dgm:t>
    </dgm:pt>
    <dgm:pt modelId="{48CCEACA-AA3E-42F3-9142-E7E98F6C81AE}" type="pres">
      <dgm:prSet presAssocID="{F0BFF990-601B-436F-8061-B6F3A0D496EE}" presName="Name0" presStyleCnt="0">
        <dgm:presLayoutVars>
          <dgm:dir/>
          <dgm:animLvl val="lvl"/>
          <dgm:resizeHandles val="exact"/>
        </dgm:presLayoutVars>
      </dgm:prSet>
      <dgm:spPr/>
    </dgm:pt>
    <dgm:pt modelId="{B3EF7BB3-D1E4-4E10-AFAD-AA053A07CF67}" type="pres">
      <dgm:prSet presAssocID="{7DF830C4-3A4B-4A18-A481-1E16A1F6C743}" presName="composite" presStyleCnt="0"/>
      <dgm:spPr/>
    </dgm:pt>
    <dgm:pt modelId="{FC1CD385-E3C2-4071-96E5-986892C4E949}" type="pres">
      <dgm:prSet presAssocID="{7DF830C4-3A4B-4A18-A481-1E16A1F6C74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7526475-70D2-4A86-A010-9FD2C153C040}" type="pres">
      <dgm:prSet presAssocID="{7DF830C4-3A4B-4A18-A481-1E16A1F6C743}" presName="desTx" presStyleLbl="alignAccFollowNode1" presStyleIdx="0" presStyleCnt="3">
        <dgm:presLayoutVars>
          <dgm:bulletEnabled val="1"/>
        </dgm:presLayoutVars>
      </dgm:prSet>
      <dgm:spPr/>
    </dgm:pt>
    <dgm:pt modelId="{4626D3A7-532D-4D90-9734-DC05791E3FD0}" type="pres">
      <dgm:prSet presAssocID="{2F54C578-A3AF-4E3E-8E2C-B3963E8A3D82}" presName="space" presStyleCnt="0"/>
      <dgm:spPr/>
    </dgm:pt>
    <dgm:pt modelId="{56EE4AD4-F38C-494E-AF7C-4272AC365BD0}" type="pres">
      <dgm:prSet presAssocID="{0455948A-CC32-4C33-B0E4-44B1A3072717}" presName="composite" presStyleCnt="0"/>
      <dgm:spPr/>
    </dgm:pt>
    <dgm:pt modelId="{0D8EEB89-0A7C-4B42-A234-8375FE9870BF}" type="pres">
      <dgm:prSet presAssocID="{0455948A-CC32-4C33-B0E4-44B1A307271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26E9301-E5B4-436E-84F2-D67DE3F56A66}" type="pres">
      <dgm:prSet presAssocID="{0455948A-CC32-4C33-B0E4-44B1A3072717}" presName="desTx" presStyleLbl="alignAccFollowNode1" presStyleIdx="1" presStyleCnt="3">
        <dgm:presLayoutVars>
          <dgm:bulletEnabled val="1"/>
        </dgm:presLayoutVars>
      </dgm:prSet>
      <dgm:spPr/>
    </dgm:pt>
    <dgm:pt modelId="{EAF03A3E-4C4C-49B6-ADC1-565D7861FA42}" type="pres">
      <dgm:prSet presAssocID="{96D542A0-61C0-4668-AB41-660A3C8E143C}" presName="space" presStyleCnt="0"/>
      <dgm:spPr/>
    </dgm:pt>
    <dgm:pt modelId="{17638AF5-7B78-4F7C-8211-AD5B37C5F42E}" type="pres">
      <dgm:prSet presAssocID="{3EF7F786-25F6-4C8A-B334-30B5576CD895}" presName="composite" presStyleCnt="0"/>
      <dgm:spPr/>
    </dgm:pt>
    <dgm:pt modelId="{CC097C33-01E3-4E9F-8685-103864C04744}" type="pres">
      <dgm:prSet presAssocID="{3EF7F786-25F6-4C8A-B334-30B5576CD89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CCCE6B9-59E5-434A-8357-59A6D9A7C22E}" type="pres">
      <dgm:prSet presAssocID="{3EF7F786-25F6-4C8A-B334-30B5576CD89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A97EB28-C338-4473-8820-835B21E5644C}" type="presOf" srcId="{AA512405-6ABA-4F8E-BBB2-B9039378F6B4}" destId="{E26E9301-E5B4-436E-84F2-D67DE3F56A66}" srcOrd="0" destOrd="0" presId="urn:microsoft.com/office/officeart/2005/8/layout/hList1"/>
    <dgm:cxn modelId="{471CBB2D-3CCF-4F44-AC16-AE76C6350C2D}" type="presOf" srcId="{99EECF7F-77F3-493A-9F04-1B1961DB95D9}" destId="{7CCCE6B9-59E5-434A-8357-59A6D9A7C22E}" srcOrd="0" destOrd="2" presId="urn:microsoft.com/office/officeart/2005/8/layout/hList1"/>
    <dgm:cxn modelId="{C552DD35-146F-45C0-9862-14024C91A71E}" type="presOf" srcId="{53E55306-15B5-4891-B866-080717F12A31}" destId="{E26E9301-E5B4-436E-84F2-D67DE3F56A66}" srcOrd="0" destOrd="1" presId="urn:microsoft.com/office/officeart/2005/8/layout/hList1"/>
    <dgm:cxn modelId="{7B86E63A-2FF3-4538-AB53-5E48B6A37F5C}" srcId="{F0BFF990-601B-436F-8061-B6F3A0D496EE}" destId="{3EF7F786-25F6-4C8A-B334-30B5576CD895}" srcOrd="2" destOrd="0" parTransId="{9AAA49B0-29B7-4327-A71E-DFFCE52B0371}" sibTransId="{8BCD8691-7CD6-4769-909B-31FDC6B31E77}"/>
    <dgm:cxn modelId="{3E9E2F3D-96E1-464D-A2C2-E28068BAA56D}" type="presOf" srcId="{791211DA-8986-441B-B556-13D841DFC8CA}" destId="{57526475-70D2-4A86-A010-9FD2C153C040}" srcOrd="0" destOrd="1" presId="urn:microsoft.com/office/officeart/2005/8/layout/hList1"/>
    <dgm:cxn modelId="{6F3AF941-A454-4A92-9C89-938B32EF96FB}" srcId="{0455948A-CC32-4C33-B0E4-44B1A3072717}" destId="{53E55306-15B5-4891-B866-080717F12A31}" srcOrd="1" destOrd="0" parTransId="{08EAA9E4-7495-4988-93E1-973871088476}" sibTransId="{C3861C85-90ED-4DDB-A9E3-C11AED6E495F}"/>
    <dgm:cxn modelId="{A8BB5046-6E4F-4837-8996-ED086740C885}" srcId="{7DF830C4-3A4B-4A18-A481-1E16A1F6C743}" destId="{791211DA-8986-441B-B556-13D841DFC8CA}" srcOrd="1" destOrd="0" parTransId="{7722F089-A38F-4522-AAC8-8193939E3A59}" sibTransId="{31138A34-A86D-4673-A761-354D49BC2A0F}"/>
    <dgm:cxn modelId="{04EBB948-D53E-4E40-A497-D3137FB366FA}" srcId="{3EF7F786-25F6-4C8A-B334-30B5576CD895}" destId="{B66D3DCA-4FED-4AC9-B736-E512F0434D3F}" srcOrd="0" destOrd="0" parTransId="{45550E3F-14F5-4E0D-9AB3-38BC43AFD308}" sibTransId="{1507938E-629E-4DC8-966F-6A44040E752E}"/>
    <dgm:cxn modelId="{1B0E234D-7077-4810-9E25-13D8E5BDA3DF}" srcId="{0455948A-CC32-4C33-B0E4-44B1A3072717}" destId="{BDBB895A-12DC-4BD8-BDD6-9E71E8C4236D}" srcOrd="2" destOrd="0" parTransId="{38F7EC42-EC58-4E41-ACA1-6EBA3185A2C5}" sibTransId="{CF98203C-B824-4CFF-BF4F-04BE5B77C975}"/>
    <dgm:cxn modelId="{3114195C-C1BA-42F2-B8B7-0142BE181FBE}" type="presOf" srcId="{A7966AD9-6E49-4C45-9052-53D9A179003B}" destId="{57526475-70D2-4A86-A010-9FD2C153C040}" srcOrd="0" destOrd="2" presId="urn:microsoft.com/office/officeart/2005/8/layout/hList1"/>
    <dgm:cxn modelId="{B6B4C65E-C0C0-442C-AB2A-7EF438F21FD0}" type="presOf" srcId="{52F342C6-2091-4F46-ACB5-E0697F26FE7A}" destId="{57526475-70D2-4A86-A010-9FD2C153C040}" srcOrd="0" destOrd="0" presId="urn:microsoft.com/office/officeart/2005/8/layout/hList1"/>
    <dgm:cxn modelId="{804C2863-4439-4F62-A338-634D7720E70A}" type="presOf" srcId="{3EF7F786-25F6-4C8A-B334-30B5576CD895}" destId="{CC097C33-01E3-4E9F-8685-103864C04744}" srcOrd="0" destOrd="0" presId="urn:microsoft.com/office/officeart/2005/8/layout/hList1"/>
    <dgm:cxn modelId="{9FD41566-C047-44DB-8FCC-167CCC3A2375}" srcId="{3EF7F786-25F6-4C8A-B334-30B5576CD895}" destId="{99EECF7F-77F3-493A-9F04-1B1961DB95D9}" srcOrd="2" destOrd="0" parTransId="{7D5DA7E7-30B1-4BE8-90E6-1CF66804703F}" sibTransId="{A90ADD9B-9814-44B8-A4CD-887FC08A94B4}"/>
    <dgm:cxn modelId="{2877F370-F31E-4131-9416-F9391135DA24}" type="presOf" srcId="{94E5E0FD-72F4-4BC0-B531-59C18D386964}" destId="{7CCCE6B9-59E5-434A-8357-59A6D9A7C22E}" srcOrd="0" destOrd="1" presId="urn:microsoft.com/office/officeart/2005/8/layout/hList1"/>
    <dgm:cxn modelId="{B5256881-9516-497F-82F4-1ED7D3A41294}" type="presOf" srcId="{BDBB895A-12DC-4BD8-BDD6-9E71E8C4236D}" destId="{E26E9301-E5B4-436E-84F2-D67DE3F56A66}" srcOrd="0" destOrd="2" presId="urn:microsoft.com/office/officeart/2005/8/layout/hList1"/>
    <dgm:cxn modelId="{A4CD8F84-901A-4B48-A16D-1D27755C983B}" type="presOf" srcId="{F0BFF990-601B-436F-8061-B6F3A0D496EE}" destId="{48CCEACA-AA3E-42F3-9142-E7E98F6C81AE}" srcOrd="0" destOrd="0" presId="urn:microsoft.com/office/officeart/2005/8/layout/hList1"/>
    <dgm:cxn modelId="{3BDF738D-20BF-4B84-A5A6-4A49AA7255E1}" srcId="{3EF7F786-25F6-4C8A-B334-30B5576CD895}" destId="{94E5E0FD-72F4-4BC0-B531-59C18D386964}" srcOrd="1" destOrd="0" parTransId="{81321DDD-CBA6-4EAB-BE2C-ED4BE4DDC3E7}" sibTransId="{F49EAA4F-B0B1-4F2B-8164-BD620AD202B3}"/>
    <dgm:cxn modelId="{712C1C8E-3F62-4AE7-BD50-ACF420BB3DB2}" srcId="{0455948A-CC32-4C33-B0E4-44B1A3072717}" destId="{AA512405-6ABA-4F8E-BBB2-B9039378F6B4}" srcOrd="0" destOrd="0" parTransId="{527865A2-86C3-49EB-AE9E-F2EA12912705}" sibTransId="{FE1600DA-8F73-4A0D-9798-53D38F9F1E40}"/>
    <dgm:cxn modelId="{D2237C94-6B9B-42C8-86CE-F4C4D66FB0A5}" srcId="{7DF830C4-3A4B-4A18-A481-1E16A1F6C743}" destId="{52F342C6-2091-4F46-ACB5-E0697F26FE7A}" srcOrd="0" destOrd="0" parTransId="{8CE9A9A8-22C8-4225-8D25-F5838636BBAF}" sibTransId="{8EBB7FF0-4069-4387-A2D7-F8F2A67E3D84}"/>
    <dgm:cxn modelId="{9038BA97-43EE-4616-BC10-6C1F74C59B07}" srcId="{F0BFF990-601B-436F-8061-B6F3A0D496EE}" destId="{7DF830C4-3A4B-4A18-A481-1E16A1F6C743}" srcOrd="0" destOrd="0" parTransId="{306A5395-1D1E-424E-AE94-909F9E445D68}" sibTransId="{2F54C578-A3AF-4E3E-8E2C-B3963E8A3D82}"/>
    <dgm:cxn modelId="{CE759FB3-79B2-427C-A8D9-B1D4723C8FB0}" type="presOf" srcId="{7DF830C4-3A4B-4A18-A481-1E16A1F6C743}" destId="{FC1CD385-E3C2-4071-96E5-986892C4E949}" srcOrd="0" destOrd="0" presId="urn:microsoft.com/office/officeart/2005/8/layout/hList1"/>
    <dgm:cxn modelId="{6EB38FBB-7BA4-4771-A482-8D6CAD21D8EF}" srcId="{7DF830C4-3A4B-4A18-A481-1E16A1F6C743}" destId="{A7966AD9-6E49-4C45-9052-53D9A179003B}" srcOrd="2" destOrd="0" parTransId="{50EDCDD5-F549-4EB6-9E70-B80AB3142B28}" sibTransId="{C03AC26E-E367-4108-919D-8DF4E900B2D9}"/>
    <dgm:cxn modelId="{E1DE76DE-2DC7-4E13-AFB1-40CDCCBBDA7B}" type="presOf" srcId="{0455948A-CC32-4C33-B0E4-44B1A3072717}" destId="{0D8EEB89-0A7C-4B42-A234-8375FE9870BF}" srcOrd="0" destOrd="0" presId="urn:microsoft.com/office/officeart/2005/8/layout/hList1"/>
    <dgm:cxn modelId="{67834FE9-1C38-46F7-BB31-8C1C9E7EDCD7}" type="presOf" srcId="{B66D3DCA-4FED-4AC9-B736-E512F0434D3F}" destId="{7CCCE6B9-59E5-434A-8357-59A6D9A7C22E}" srcOrd="0" destOrd="0" presId="urn:microsoft.com/office/officeart/2005/8/layout/hList1"/>
    <dgm:cxn modelId="{F27023F3-C59F-42B1-8418-8AF0B0D579FB}" srcId="{F0BFF990-601B-436F-8061-B6F3A0D496EE}" destId="{0455948A-CC32-4C33-B0E4-44B1A3072717}" srcOrd="1" destOrd="0" parTransId="{750F9CD9-4DDA-462C-8F58-117474B499CA}" sibTransId="{96D542A0-61C0-4668-AB41-660A3C8E143C}"/>
    <dgm:cxn modelId="{B4E9D0AE-CA1D-4ABE-923E-5F7E44158DFD}" type="presParOf" srcId="{48CCEACA-AA3E-42F3-9142-E7E98F6C81AE}" destId="{B3EF7BB3-D1E4-4E10-AFAD-AA053A07CF67}" srcOrd="0" destOrd="0" presId="urn:microsoft.com/office/officeart/2005/8/layout/hList1"/>
    <dgm:cxn modelId="{03E88704-2CCE-4419-A5FB-8F492F91576E}" type="presParOf" srcId="{B3EF7BB3-D1E4-4E10-AFAD-AA053A07CF67}" destId="{FC1CD385-E3C2-4071-96E5-986892C4E949}" srcOrd="0" destOrd="0" presId="urn:microsoft.com/office/officeart/2005/8/layout/hList1"/>
    <dgm:cxn modelId="{93348101-2863-4E12-B2BA-FF74772F0715}" type="presParOf" srcId="{B3EF7BB3-D1E4-4E10-AFAD-AA053A07CF67}" destId="{57526475-70D2-4A86-A010-9FD2C153C040}" srcOrd="1" destOrd="0" presId="urn:microsoft.com/office/officeart/2005/8/layout/hList1"/>
    <dgm:cxn modelId="{B444B671-7202-4B49-A174-B5B69FC02C0B}" type="presParOf" srcId="{48CCEACA-AA3E-42F3-9142-E7E98F6C81AE}" destId="{4626D3A7-532D-4D90-9734-DC05791E3FD0}" srcOrd="1" destOrd="0" presId="urn:microsoft.com/office/officeart/2005/8/layout/hList1"/>
    <dgm:cxn modelId="{B3654482-F9A9-41CA-A835-64DCEE01DE43}" type="presParOf" srcId="{48CCEACA-AA3E-42F3-9142-E7E98F6C81AE}" destId="{56EE4AD4-F38C-494E-AF7C-4272AC365BD0}" srcOrd="2" destOrd="0" presId="urn:microsoft.com/office/officeart/2005/8/layout/hList1"/>
    <dgm:cxn modelId="{51D41536-C086-4168-8945-4533FDBE679B}" type="presParOf" srcId="{56EE4AD4-F38C-494E-AF7C-4272AC365BD0}" destId="{0D8EEB89-0A7C-4B42-A234-8375FE9870BF}" srcOrd="0" destOrd="0" presId="urn:microsoft.com/office/officeart/2005/8/layout/hList1"/>
    <dgm:cxn modelId="{FFA08CFA-D41B-46CA-99A6-2785EE05B92F}" type="presParOf" srcId="{56EE4AD4-F38C-494E-AF7C-4272AC365BD0}" destId="{E26E9301-E5B4-436E-84F2-D67DE3F56A66}" srcOrd="1" destOrd="0" presId="urn:microsoft.com/office/officeart/2005/8/layout/hList1"/>
    <dgm:cxn modelId="{F0D87B36-E1E1-40DB-8F36-8A427C8E4380}" type="presParOf" srcId="{48CCEACA-AA3E-42F3-9142-E7E98F6C81AE}" destId="{EAF03A3E-4C4C-49B6-ADC1-565D7861FA42}" srcOrd="3" destOrd="0" presId="urn:microsoft.com/office/officeart/2005/8/layout/hList1"/>
    <dgm:cxn modelId="{CBF0CAA8-E1E2-4F36-A46F-DB07551F8695}" type="presParOf" srcId="{48CCEACA-AA3E-42F3-9142-E7E98F6C81AE}" destId="{17638AF5-7B78-4F7C-8211-AD5B37C5F42E}" srcOrd="4" destOrd="0" presId="urn:microsoft.com/office/officeart/2005/8/layout/hList1"/>
    <dgm:cxn modelId="{1A2EF2C9-1360-4374-94E2-7030831F1CED}" type="presParOf" srcId="{17638AF5-7B78-4F7C-8211-AD5B37C5F42E}" destId="{CC097C33-01E3-4E9F-8685-103864C04744}" srcOrd="0" destOrd="0" presId="urn:microsoft.com/office/officeart/2005/8/layout/hList1"/>
    <dgm:cxn modelId="{A557674F-382B-4E4F-8993-9A1522BD0448}" type="presParOf" srcId="{17638AF5-7B78-4F7C-8211-AD5B37C5F42E}" destId="{7CCCE6B9-59E5-434A-8357-59A6D9A7C2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BFF990-601B-436F-8061-B6F3A0D496EE}" type="doc">
      <dgm:prSet loTypeId="urn:microsoft.com/office/officeart/2005/8/layout/hList1" loCatId="list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DF830C4-3A4B-4A18-A481-1E16A1F6C743}">
      <dgm:prSet/>
      <dgm:spPr/>
      <dgm:t>
        <a:bodyPr/>
        <a:lstStyle/>
        <a:p>
          <a:r>
            <a:rPr lang="en-US" b="1"/>
            <a:t>Short-Term: 0–1 Year</a:t>
          </a:r>
          <a:endParaRPr lang="en-US"/>
        </a:p>
      </dgm:t>
    </dgm:pt>
    <dgm:pt modelId="{306A5395-1D1E-424E-AE94-909F9E445D68}" type="parTrans" cxnId="{9038BA97-43EE-4616-BC10-6C1F74C59B07}">
      <dgm:prSet/>
      <dgm:spPr/>
      <dgm:t>
        <a:bodyPr/>
        <a:lstStyle/>
        <a:p>
          <a:endParaRPr lang="en-US"/>
        </a:p>
      </dgm:t>
    </dgm:pt>
    <dgm:pt modelId="{2F54C578-A3AF-4E3E-8E2C-B3963E8A3D82}" type="sibTrans" cxnId="{9038BA97-43EE-4616-BC10-6C1F74C59B07}">
      <dgm:prSet/>
      <dgm:spPr/>
      <dgm:t>
        <a:bodyPr/>
        <a:lstStyle/>
        <a:p>
          <a:endParaRPr lang="en-US"/>
        </a:p>
      </dgm:t>
    </dgm:pt>
    <dgm:pt modelId="{52F342C6-2091-4F46-ACB5-E0697F26FE7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Confirm current successor assignments based on updated data</a:t>
          </a:r>
        </a:p>
      </dgm:t>
    </dgm:pt>
    <dgm:pt modelId="{8CE9A9A8-22C8-4225-8D25-F5838636BBAF}" type="parTrans" cxnId="{D2237C94-6B9B-42C8-86CE-F4C4D66FB0A5}">
      <dgm:prSet/>
      <dgm:spPr/>
      <dgm:t>
        <a:bodyPr/>
        <a:lstStyle/>
        <a:p>
          <a:endParaRPr lang="en-US"/>
        </a:p>
      </dgm:t>
    </dgm:pt>
    <dgm:pt modelId="{8EBB7FF0-4069-4387-A2D7-F8F2A67E3D84}" type="sibTrans" cxnId="{D2237C94-6B9B-42C8-86CE-F4C4D66FB0A5}">
      <dgm:prSet/>
      <dgm:spPr/>
      <dgm:t>
        <a:bodyPr/>
        <a:lstStyle/>
        <a:p>
          <a:endParaRPr lang="en-US"/>
        </a:p>
      </dgm:t>
    </dgm:pt>
    <dgm:pt modelId="{0455948A-CC32-4C33-B0E4-44B1A3072717}">
      <dgm:prSet/>
      <dgm:spPr/>
      <dgm:t>
        <a:bodyPr/>
        <a:lstStyle/>
        <a:p>
          <a:r>
            <a:rPr lang="en-US" b="1"/>
            <a:t>Mid-Term: 1–3 Years</a:t>
          </a:r>
          <a:endParaRPr lang="en-US"/>
        </a:p>
      </dgm:t>
    </dgm:pt>
    <dgm:pt modelId="{750F9CD9-4DDA-462C-8F58-117474B499CA}" type="parTrans" cxnId="{F27023F3-C59F-42B1-8418-8AF0B0D579FB}">
      <dgm:prSet/>
      <dgm:spPr/>
      <dgm:t>
        <a:bodyPr/>
        <a:lstStyle/>
        <a:p>
          <a:endParaRPr lang="en-US"/>
        </a:p>
      </dgm:t>
    </dgm:pt>
    <dgm:pt modelId="{96D542A0-61C0-4668-AB41-660A3C8E143C}" type="sibTrans" cxnId="{F27023F3-C59F-42B1-8418-8AF0B0D579FB}">
      <dgm:prSet/>
      <dgm:spPr/>
      <dgm:t>
        <a:bodyPr/>
        <a:lstStyle/>
        <a:p>
          <a:endParaRPr lang="en-US"/>
        </a:p>
      </dgm:t>
    </dgm:pt>
    <dgm:pt modelId="{AA512405-6ABA-4F8E-BBB2-B9039378F6B4}">
      <dgm:prSet/>
      <dgm:spPr/>
      <dgm:t>
        <a:bodyPr/>
        <a:lstStyle/>
        <a:p>
          <a:r>
            <a:rPr lang="en-US"/>
            <a:t>Strengthen Supervisor and Superintendent roles through:</a:t>
          </a:r>
        </a:p>
      </dgm:t>
    </dgm:pt>
    <dgm:pt modelId="{527865A2-86C3-49EB-AE9E-F2EA12912705}" type="parTrans" cxnId="{712C1C8E-3F62-4AE7-BD50-ACF420BB3DB2}">
      <dgm:prSet/>
      <dgm:spPr/>
      <dgm:t>
        <a:bodyPr/>
        <a:lstStyle/>
        <a:p>
          <a:endParaRPr lang="en-US"/>
        </a:p>
      </dgm:t>
    </dgm:pt>
    <dgm:pt modelId="{FE1600DA-8F73-4A0D-9798-53D38F9F1E40}" type="sibTrans" cxnId="{712C1C8E-3F62-4AE7-BD50-ACF420BB3DB2}">
      <dgm:prSet/>
      <dgm:spPr/>
      <dgm:t>
        <a:bodyPr/>
        <a:lstStyle/>
        <a:p>
          <a:endParaRPr lang="en-US"/>
        </a:p>
      </dgm:t>
    </dgm:pt>
    <dgm:pt modelId="{3EF7F786-25F6-4C8A-B334-30B5576CD895}">
      <dgm:prSet/>
      <dgm:spPr/>
      <dgm:t>
        <a:bodyPr/>
        <a:lstStyle/>
        <a:p>
          <a:r>
            <a:rPr lang="en-US" b="1"/>
            <a:t>Long-Term: 3–5 Years</a:t>
          </a:r>
          <a:endParaRPr lang="en-US"/>
        </a:p>
      </dgm:t>
    </dgm:pt>
    <dgm:pt modelId="{9AAA49B0-29B7-4327-A71E-DFFCE52B0371}" type="parTrans" cxnId="{7B86E63A-2FF3-4538-AB53-5E48B6A37F5C}">
      <dgm:prSet/>
      <dgm:spPr/>
      <dgm:t>
        <a:bodyPr/>
        <a:lstStyle/>
        <a:p>
          <a:endParaRPr lang="en-US"/>
        </a:p>
      </dgm:t>
    </dgm:pt>
    <dgm:pt modelId="{8BCD8691-7CD6-4769-909B-31FDC6B31E77}" type="sibTrans" cxnId="{7B86E63A-2FF3-4538-AB53-5E48B6A37F5C}">
      <dgm:prSet/>
      <dgm:spPr/>
      <dgm:t>
        <a:bodyPr/>
        <a:lstStyle/>
        <a:p>
          <a:endParaRPr lang="en-US"/>
        </a:p>
      </dgm:t>
    </dgm:pt>
    <dgm:pt modelId="{B66D3DCA-4FED-4AC9-B736-E512F0434D3F}">
      <dgm:prSet/>
      <dgm:spPr/>
      <dgm:t>
        <a:bodyPr/>
        <a:lstStyle/>
        <a:p>
          <a:r>
            <a:rPr lang="en-US"/>
            <a:t>Prepare stronger internal candidates for:</a:t>
          </a:r>
        </a:p>
      </dgm:t>
    </dgm:pt>
    <dgm:pt modelId="{45550E3F-14F5-4E0D-9AB3-38BC43AFD308}" type="parTrans" cxnId="{04EBB948-D53E-4E40-A497-D3137FB366FA}">
      <dgm:prSet/>
      <dgm:spPr/>
      <dgm:t>
        <a:bodyPr/>
        <a:lstStyle/>
        <a:p>
          <a:endParaRPr lang="en-US"/>
        </a:p>
      </dgm:t>
    </dgm:pt>
    <dgm:pt modelId="{1507938E-629E-4DC8-966F-6A44040E752E}" type="sibTrans" cxnId="{04EBB948-D53E-4E40-A497-D3137FB366FA}">
      <dgm:prSet/>
      <dgm:spPr/>
      <dgm:t>
        <a:bodyPr/>
        <a:lstStyle/>
        <a:p>
          <a:endParaRPr lang="en-US"/>
        </a:p>
      </dgm:t>
    </dgm:pt>
    <dgm:pt modelId="{86DD3E27-BF7B-47DA-A694-E4B186253248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administrative support </a:t>
          </a:r>
        </a:p>
      </dgm:t>
    </dgm:pt>
    <dgm:pt modelId="{69058D72-F30E-453D-AA36-EA9E080E0D62}" type="parTrans" cxnId="{870E7570-4436-4798-AC02-DD0BC462D991}">
      <dgm:prSet/>
      <dgm:spPr/>
      <dgm:t>
        <a:bodyPr/>
        <a:lstStyle/>
        <a:p>
          <a:endParaRPr lang="en-US"/>
        </a:p>
      </dgm:t>
    </dgm:pt>
    <dgm:pt modelId="{C456E761-4AAA-47CD-A924-D44F0ECDA27A}" type="sibTrans" cxnId="{870E7570-4436-4798-AC02-DD0BC462D991}">
      <dgm:prSet/>
      <dgm:spPr/>
      <dgm:t>
        <a:bodyPr/>
        <a:lstStyle/>
        <a:p>
          <a:endParaRPr lang="en-US"/>
        </a:p>
      </dgm:t>
    </dgm:pt>
    <dgm:pt modelId="{E3E9BE99-8684-4270-B7E7-F6D3C85231F0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technical positions </a:t>
          </a:r>
        </a:p>
      </dgm:t>
    </dgm:pt>
    <dgm:pt modelId="{A51DAE68-1809-4C4D-923F-03AE177E15FB}" type="parTrans" cxnId="{C32007A7-3B01-46B1-850C-A28D39D6E52D}">
      <dgm:prSet/>
      <dgm:spPr/>
      <dgm:t>
        <a:bodyPr/>
        <a:lstStyle/>
        <a:p>
          <a:endParaRPr lang="en-US"/>
        </a:p>
      </dgm:t>
    </dgm:pt>
    <dgm:pt modelId="{D96B11A7-4A9D-4724-860D-9B1607695F3A}" type="sibTrans" cxnId="{C32007A7-3B01-46B1-850C-A28D39D6E52D}">
      <dgm:prSet/>
      <dgm:spPr/>
      <dgm:t>
        <a:bodyPr/>
        <a:lstStyle/>
        <a:p>
          <a:endParaRPr lang="en-US"/>
        </a:p>
      </dgm:t>
    </dgm:pt>
    <dgm:pt modelId="{C981D7D1-A17F-45C3-A6B3-0F6BBBF6E8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Begin developing backup options for roles that currently have only one successor</a:t>
          </a:r>
        </a:p>
      </dgm:t>
    </dgm:pt>
    <dgm:pt modelId="{0068DBBD-B5FE-4BF6-A956-4CD9DB54EE8D}" type="parTrans" cxnId="{CED72B43-894C-4F47-B307-30E187C6E313}">
      <dgm:prSet/>
      <dgm:spPr/>
      <dgm:t>
        <a:bodyPr/>
        <a:lstStyle/>
        <a:p>
          <a:endParaRPr lang="en-US"/>
        </a:p>
      </dgm:t>
    </dgm:pt>
    <dgm:pt modelId="{45C897D0-93C1-47AA-9DB9-F7814D46909D}" type="sibTrans" cxnId="{CED72B43-894C-4F47-B307-30E187C6E313}">
      <dgm:prSet/>
      <dgm:spPr/>
      <dgm:t>
        <a:bodyPr/>
        <a:lstStyle/>
        <a:p>
          <a:endParaRPr lang="en-US"/>
        </a:p>
      </dgm:t>
    </dgm:pt>
    <dgm:pt modelId="{D9EC39E7-B30F-4D7B-BD1A-C40D389A896D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recreation roles </a:t>
          </a:r>
        </a:p>
      </dgm:t>
    </dgm:pt>
    <dgm:pt modelId="{8362CA6E-50EA-40DA-BFAE-51AE93BD5EBE}" type="parTrans" cxnId="{77467CA8-D5AD-404E-9BD6-D7CF4E0E0D72}">
      <dgm:prSet/>
      <dgm:spPr/>
      <dgm:t>
        <a:bodyPr/>
        <a:lstStyle/>
        <a:p>
          <a:endParaRPr lang="en-US"/>
        </a:p>
      </dgm:t>
    </dgm:pt>
    <dgm:pt modelId="{520AA268-ECF2-435C-B086-04B180DD56E7}" type="sibTrans" cxnId="{77467CA8-D5AD-404E-9BD6-D7CF4E0E0D72}">
      <dgm:prSet/>
      <dgm:spPr/>
      <dgm:t>
        <a:bodyPr/>
        <a:lstStyle/>
        <a:p>
          <a:endParaRPr lang="en-US"/>
        </a:p>
      </dgm:t>
    </dgm:pt>
    <dgm:pt modelId="{2EA3BD04-AED3-4A5F-944C-E7C2D57AF75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Use cross-training to support:</a:t>
          </a:r>
        </a:p>
      </dgm:t>
    </dgm:pt>
    <dgm:pt modelId="{C33D48C4-31DD-4707-90DA-F0709887E706}" type="parTrans" cxnId="{01F2EC1A-81B5-4D06-8F41-5B3181B06B0D}">
      <dgm:prSet/>
      <dgm:spPr/>
      <dgm:t>
        <a:bodyPr/>
        <a:lstStyle/>
        <a:p>
          <a:endParaRPr lang="en-US"/>
        </a:p>
      </dgm:t>
    </dgm:pt>
    <dgm:pt modelId="{667E0D1F-0875-4F81-8A7A-13C381A03C13}" type="sibTrans" cxnId="{01F2EC1A-81B5-4D06-8F41-5B3181B06B0D}">
      <dgm:prSet/>
      <dgm:spPr/>
      <dgm:t>
        <a:bodyPr/>
        <a:lstStyle/>
        <a:p>
          <a:endParaRPr lang="en-US"/>
        </a:p>
      </dgm:t>
    </dgm:pt>
    <dgm:pt modelId="{A847DB84-81B1-46B6-B09C-D4CCEB8F19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Identify employees who are closest to being ready for promotion</a:t>
          </a:r>
        </a:p>
      </dgm:t>
    </dgm:pt>
    <dgm:pt modelId="{3E92D8E1-6F70-4F63-A5CF-88EA0D2B2080}" type="parTrans" cxnId="{D092832E-CD37-4A7D-89F8-660636FAD6BE}">
      <dgm:prSet/>
      <dgm:spPr/>
      <dgm:t>
        <a:bodyPr/>
        <a:lstStyle/>
        <a:p>
          <a:endParaRPr lang="en-US"/>
        </a:p>
      </dgm:t>
    </dgm:pt>
    <dgm:pt modelId="{44BBB102-6172-42AF-9F5B-CB908A903EB7}" type="sibTrans" cxnId="{D092832E-CD37-4A7D-89F8-660636FAD6BE}">
      <dgm:prSet/>
      <dgm:spPr/>
      <dgm:t>
        <a:bodyPr/>
        <a:lstStyle/>
        <a:p>
          <a:endParaRPr lang="en-US"/>
        </a:p>
      </dgm:t>
    </dgm:pt>
    <dgm:pt modelId="{63E68AA3-FA26-4FE7-A6D1-017F7E900EF6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project management experience </a:t>
          </a:r>
        </a:p>
      </dgm:t>
    </dgm:pt>
    <dgm:pt modelId="{E56C323B-0934-48E1-BFBF-F37200DD43D7}" type="parTrans" cxnId="{B1071FF0-6730-4FB0-9A27-D8F09C199B25}">
      <dgm:prSet/>
      <dgm:spPr/>
      <dgm:t>
        <a:bodyPr/>
        <a:lstStyle/>
        <a:p>
          <a:endParaRPr lang="en-US"/>
        </a:p>
      </dgm:t>
    </dgm:pt>
    <dgm:pt modelId="{B41FF216-F804-4FD2-8AFE-B14F2234C42E}" type="sibTrans" cxnId="{B1071FF0-6730-4FB0-9A27-D8F09C199B25}">
      <dgm:prSet/>
      <dgm:spPr/>
      <dgm:t>
        <a:bodyPr/>
        <a:lstStyle/>
        <a:p>
          <a:endParaRPr lang="en-US"/>
        </a:p>
      </dgm:t>
    </dgm:pt>
    <dgm:pt modelId="{A12F9C40-D5FD-41B1-8159-536625276242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budgeting and planning exposure </a:t>
          </a:r>
        </a:p>
      </dgm:t>
    </dgm:pt>
    <dgm:pt modelId="{04742AAE-BA10-47D5-BA13-C81C508CCE57}" type="parTrans" cxnId="{D31E8F45-7DF9-4669-97DD-F0794441D5A0}">
      <dgm:prSet/>
      <dgm:spPr/>
      <dgm:t>
        <a:bodyPr/>
        <a:lstStyle/>
        <a:p>
          <a:endParaRPr lang="en-US"/>
        </a:p>
      </dgm:t>
    </dgm:pt>
    <dgm:pt modelId="{77605E0C-D7A5-4C4B-ABB6-878DED119BFE}" type="sibTrans" cxnId="{D31E8F45-7DF9-4669-97DD-F0794441D5A0}">
      <dgm:prSet/>
      <dgm:spPr/>
      <dgm:t>
        <a:bodyPr/>
        <a:lstStyle/>
        <a:p>
          <a:endParaRPr lang="en-US"/>
        </a:p>
      </dgm:t>
    </dgm:pt>
    <dgm:pt modelId="{83CE0000-06FA-42FF-8466-0FC5EADF9C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/>
            <a:t>Continue </a:t>
          </a:r>
          <a:r>
            <a:rPr lang="fr-FR" err="1"/>
            <a:t>technical</a:t>
          </a:r>
          <a:r>
            <a:rPr lang="fr-FR"/>
            <a:t> </a:t>
          </a:r>
          <a:r>
            <a:rPr lang="fr-FR" err="1"/>
            <a:t>development</a:t>
          </a:r>
          <a:r>
            <a:rPr lang="fr-FR"/>
            <a:t>:</a:t>
          </a:r>
        </a:p>
      </dgm:t>
    </dgm:pt>
    <dgm:pt modelId="{6B9DD047-0E5F-48E6-9FC0-D756118D7193}" type="parTrans" cxnId="{EA8CDE41-ECCB-4E73-A4C2-4BB8BDA638EB}">
      <dgm:prSet/>
      <dgm:spPr/>
      <dgm:t>
        <a:bodyPr/>
        <a:lstStyle/>
        <a:p>
          <a:endParaRPr lang="en-US"/>
        </a:p>
      </dgm:t>
    </dgm:pt>
    <dgm:pt modelId="{2DD00877-A88E-46D5-9942-BC9D9072E879}" type="sibTrans" cxnId="{EA8CDE41-ECCB-4E73-A4C2-4BB8BDA638EB}">
      <dgm:prSet/>
      <dgm:spPr/>
      <dgm:t>
        <a:bodyPr/>
        <a:lstStyle/>
        <a:p>
          <a:endParaRPr lang="en-US"/>
        </a:p>
      </dgm:t>
    </dgm:pt>
    <dgm:pt modelId="{08ADF88B-4E73-479C-BDC4-DF3511970F4E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hands-on operational experience </a:t>
          </a:r>
        </a:p>
      </dgm:t>
    </dgm:pt>
    <dgm:pt modelId="{FECDFCA0-0C04-459A-961A-F1A2CEF13C92}" type="parTrans" cxnId="{C1E3BE5A-7246-4CB4-BB94-A59EFC350B47}">
      <dgm:prSet/>
      <dgm:spPr/>
      <dgm:t>
        <a:bodyPr/>
        <a:lstStyle/>
        <a:p>
          <a:endParaRPr lang="en-US"/>
        </a:p>
      </dgm:t>
    </dgm:pt>
    <dgm:pt modelId="{5B540FA2-89D8-4ADD-A6F8-C9F68B848C48}" type="sibTrans" cxnId="{C1E3BE5A-7246-4CB4-BB94-A59EFC350B47}">
      <dgm:prSet/>
      <dgm:spPr/>
      <dgm:t>
        <a:bodyPr/>
        <a:lstStyle/>
        <a:p>
          <a:endParaRPr lang="en-US"/>
        </a:p>
      </dgm:t>
    </dgm:pt>
    <dgm:pt modelId="{05669450-148E-4281-85E1-BF80A26F48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Expand the number of employees who could step into key roles</a:t>
          </a:r>
        </a:p>
      </dgm:t>
    </dgm:pt>
    <dgm:pt modelId="{71C80F9F-070A-4006-ABF4-1EE4F05C93A5}" type="parTrans" cxnId="{6017CD89-DCB1-459C-B3B0-BF14EAB188FE}">
      <dgm:prSet/>
      <dgm:spPr/>
      <dgm:t>
        <a:bodyPr/>
        <a:lstStyle/>
        <a:p>
          <a:endParaRPr lang="en-US"/>
        </a:p>
      </dgm:t>
    </dgm:pt>
    <dgm:pt modelId="{D723F52F-57D1-4AE1-9A04-CF7AAE9D6119}" type="sibTrans" cxnId="{6017CD89-DCB1-459C-B3B0-BF14EAB188FE}">
      <dgm:prSet/>
      <dgm:spPr/>
      <dgm:t>
        <a:bodyPr/>
        <a:lstStyle/>
        <a:p>
          <a:endParaRPr lang="en-US"/>
        </a:p>
      </dgm:t>
    </dgm:pt>
    <dgm:pt modelId="{4FB864C5-4A75-4490-9C65-80626E889536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leadership training </a:t>
          </a:r>
        </a:p>
      </dgm:t>
    </dgm:pt>
    <dgm:pt modelId="{FBBB0FE1-9D8A-49E1-8EF0-1F52E0BF0606}" type="parTrans" cxnId="{40994071-5831-4515-B434-D86908355937}">
      <dgm:prSet/>
      <dgm:spPr/>
      <dgm:t>
        <a:bodyPr/>
        <a:lstStyle/>
        <a:p>
          <a:endParaRPr lang="en-US"/>
        </a:p>
      </dgm:t>
    </dgm:pt>
    <dgm:pt modelId="{DC192F11-634E-4BFD-B945-3E07357BCBB8}" type="sibTrans" cxnId="{40994071-5831-4515-B434-D86908355937}">
      <dgm:prSet/>
      <dgm:spPr/>
      <dgm:t>
        <a:bodyPr/>
        <a:lstStyle/>
        <a:p>
          <a:endParaRPr lang="en-US"/>
        </a:p>
      </dgm:t>
    </dgm:pt>
    <dgm:pt modelId="{D24E12EE-1342-4759-87D0-E4A9A093A24A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fr-FR"/>
            <a:t>certifications (CPO, CPRP, irrigation, TDA, etc.) </a:t>
          </a:r>
        </a:p>
      </dgm:t>
    </dgm:pt>
    <dgm:pt modelId="{9218EED6-76BE-46C1-B21D-B855A0B208E4}" type="parTrans" cxnId="{587A6322-9F23-42EB-88E3-B4AD6E7EE718}">
      <dgm:prSet/>
      <dgm:spPr/>
      <dgm:t>
        <a:bodyPr/>
        <a:lstStyle/>
        <a:p>
          <a:endParaRPr lang="en-US"/>
        </a:p>
      </dgm:t>
    </dgm:pt>
    <dgm:pt modelId="{97ADA645-7E54-48ED-ACF6-012A6256B1F7}" type="sibTrans" cxnId="{587A6322-9F23-42EB-88E3-B4AD6E7EE718}">
      <dgm:prSet/>
      <dgm:spPr/>
      <dgm:t>
        <a:bodyPr/>
        <a:lstStyle/>
        <a:p>
          <a:endParaRPr lang="en-US"/>
        </a:p>
      </dgm:t>
    </dgm:pt>
    <dgm:pt modelId="{BA9C58AA-71E7-4471-AC10-839400AF1503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Director roles </a:t>
          </a:r>
        </a:p>
      </dgm:t>
    </dgm:pt>
    <dgm:pt modelId="{825F41FB-05F3-4DAE-9AD7-5A0CE400FA0B}" type="parTrans" cxnId="{557EA808-0137-4DF3-A230-30AC7C455DEE}">
      <dgm:prSet/>
      <dgm:spPr/>
      <dgm:t>
        <a:bodyPr/>
        <a:lstStyle/>
        <a:p>
          <a:endParaRPr lang="en-US"/>
        </a:p>
      </dgm:t>
    </dgm:pt>
    <dgm:pt modelId="{58AFF513-C26A-4154-BE71-6931FC430D73}" type="sibTrans" cxnId="{557EA808-0137-4DF3-A230-30AC7C455DEE}">
      <dgm:prSet/>
      <dgm:spPr/>
      <dgm:t>
        <a:bodyPr/>
        <a:lstStyle/>
        <a:p>
          <a:endParaRPr lang="en-US"/>
        </a:p>
      </dgm:t>
    </dgm:pt>
    <dgm:pt modelId="{2E9C43B4-4164-42CF-B3C6-9317DBAD813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Reduce reliance on a single successor for each leadership position</a:t>
          </a:r>
        </a:p>
      </dgm:t>
    </dgm:pt>
    <dgm:pt modelId="{87A279A5-9197-4930-8C38-15CFFC00DD82}" type="parTrans" cxnId="{41AB7245-4189-4204-B94D-6DBDD935984A}">
      <dgm:prSet/>
      <dgm:spPr/>
      <dgm:t>
        <a:bodyPr/>
        <a:lstStyle/>
        <a:p>
          <a:endParaRPr lang="en-US"/>
        </a:p>
      </dgm:t>
    </dgm:pt>
    <dgm:pt modelId="{7C9FFDCE-B9A2-4952-B18B-F3013E7D9928}" type="sibTrans" cxnId="{41AB7245-4189-4204-B94D-6DBDD935984A}">
      <dgm:prSet/>
      <dgm:spPr/>
      <dgm:t>
        <a:bodyPr/>
        <a:lstStyle/>
        <a:p>
          <a:endParaRPr lang="en-US"/>
        </a:p>
      </dgm:t>
    </dgm:pt>
    <dgm:pt modelId="{5539CF33-4713-4AA8-910D-FE76701EEE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 Build more consistent coverage across both operations and recreation</a:t>
          </a:r>
        </a:p>
      </dgm:t>
    </dgm:pt>
    <dgm:pt modelId="{53E1A6F7-62C6-463B-A9EA-6473EECFBE19}" type="parTrans" cxnId="{10CF688E-9412-4F4D-BB01-08C42469A5BD}">
      <dgm:prSet/>
      <dgm:spPr/>
      <dgm:t>
        <a:bodyPr/>
        <a:lstStyle/>
        <a:p>
          <a:endParaRPr lang="en-US"/>
        </a:p>
      </dgm:t>
    </dgm:pt>
    <dgm:pt modelId="{B6D3C613-CE0B-4551-B3D5-5D764E8726D8}" type="sibTrans" cxnId="{10CF688E-9412-4F4D-BB01-08C42469A5BD}">
      <dgm:prSet/>
      <dgm:spPr/>
      <dgm:t>
        <a:bodyPr/>
        <a:lstStyle/>
        <a:p>
          <a:endParaRPr lang="en-US"/>
        </a:p>
      </dgm:t>
    </dgm:pt>
    <dgm:pt modelId="{8735C8A8-A8A0-4DD6-A948-E68C92FEC5F7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/>
            <a:t>Assistant Director </a:t>
          </a:r>
        </a:p>
      </dgm:t>
    </dgm:pt>
    <dgm:pt modelId="{A8DC8C94-71BD-4711-960E-BD0BF77AE43B}" type="parTrans" cxnId="{BDA752F7-9F29-4DC6-97E5-D96F14EFE1EB}">
      <dgm:prSet/>
      <dgm:spPr/>
      <dgm:t>
        <a:bodyPr/>
        <a:lstStyle/>
        <a:p>
          <a:endParaRPr lang="en-US"/>
        </a:p>
      </dgm:t>
    </dgm:pt>
    <dgm:pt modelId="{8CEF64DF-1146-42FB-8AA2-F2472A3DB0D3}" type="sibTrans" cxnId="{BDA752F7-9F29-4DC6-97E5-D96F14EFE1EB}">
      <dgm:prSet/>
      <dgm:spPr/>
      <dgm:t>
        <a:bodyPr/>
        <a:lstStyle/>
        <a:p>
          <a:endParaRPr lang="en-US"/>
        </a:p>
      </dgm:t>
    </dgm:pt>
    <dgm:pt modelId="{48CCEACA-AA3E-42F3-9142-E7E98F6C81AE}" type="pres">
      <dgm:prSet presAssocID="{F0BFF990-601B-436F-8061-B6F3A0D496EE}" presName="Name0" presStyleCnt="0">
        <dgm:presLayoutVars>
          <dgm:dir/>
          <dgm:animLvl val="lvl"/>
          <dgm:resizeHandles val="exact"/>
        </dgm:presLayoutVars>
      </dgm:prSet>
      <dgm:spPr/>
    </dgm:pt>
    <dgm:pt modelId="{B3EF7BB3-D1E4-4E10-AFAD-AA053A07CF67}" type="pres">
      <dgm:prSet presAssocID="{7DF830C4-3A4B-4A18-A481-1E16A1F6C743}" presName="composite" presStyleCnt="0"/>
      <dgm:spPr/>
    </dgm:pt>
    <dgm:pt modelId="{FC1CD385-E3C2-4071-96E5-986892C4E949}" type="pres">
      <dgm:prSet presAssocID="{7DF830C4-3A4B-4A18-A481-1E16A1F6C74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7526475-70D2-4A86-A010-9FD2C153C040}" type="pres">
      <dgm:prSet presAssocID="{7DF830C4-3A4B-4A18-A481-1E16A1F6C743}" presName="desTx" presStyleLbl="alignAccFollowNode1" presStyleIdx="0" presStyleCnt="3">
        <dgm:presLayoutVars>
          <dgm:bulletEnabled val="1"/>
        </dgm:presLayoutVars>
      </dgm:prSet>
      <dgm:spPr/>
    </dgm:pt>
    <dgm:pt modelId="{4626D3A7-532D-4D90-9734-DC05791E3FD0}" type="pres">
      <dgm:prSet presAssocID="{2F54C578-A3AF-4E3E-8E2C-B3963E8A3D82}" presName="space" presStyleCnt="0"/>
      <dgm:spPr/>
    </dgm:pt>
    <dgm:pt modelId="{56EE4AD4-F38C-494E-AF7C-4272AC365BD0}" type="pres">
      <dgm:prSet presAssocID="{0455948A-CC32-4C33-B0E4-44B1A3072717}" presName="composite" presStyleCnt="0"/>
      <dgm:spPr/>
    </dgm:pt>
    <dgm:pt modelId="{0D8EEB89-0A7C-4B42-A234-8375FE9870BF}" type="pres">
      <dgm:prSet presAssocID="{0455948A-CC32-4C33-B0E4-44B1A307271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26E9301-E5B4-436E-84F2-D67DE3F56A66}" type="pres">
      <dgm:prSet presAssocID="{0455948A-CC32-4C33-B0E4-44B1A3072717}" presName="desTx" presStyleLbl="alignAccFollowNode1" presStyleIdx="1" presStyleCnt="3">
        <dgm:presLayoutVars>
          <dgm:bulletEnabled val="1"/>
        </dgm:presLayoutVars>
      </dgm:prSet>
      <dgm:spPr/>
    </dgm:pt>
    <dgm:pt modelId="{EAF03A3E-4C4C-49B6-ADC1-565D7861FA42}" type="pres">
      <dgm:prSet presAssocID="{96D542A0-61C0-4668-AB41-660A3C8E143C}" presName="space" presStyleCnt="0"/>
      <dgm:spPr/>
    </dgm:pt>
    <dgm:pt modelId="{17638AF5-7B78-4F7C-8211-AD5B37C5F42E}" type="pres">
      <dgm:prSet presAssocID="{3EF7F786-25F6-4C8A-B334-30B5576CD895}" presName="composite" presStyleCnt="0"/>
      <dgm:spPr/>
    </dgm:pt>
    <dgm:pt modelId="{CC097C33-01E3-4E9F-8685-103864C04744}" type="pres">
      <dgm:prSet presAssocID="{3EF7F786-25F6-4C8A-B334-30B5576CD89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CCCE6B9-59E5-434A-8357-59A6D9A7C22E}" type="pres">
      <dgm:prSet presAssocID="{3EF7F786-25F6-4C8A-B334-30B5576CD89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57EA808-0137-4DF3-A230-30AC7C455DEE}" srcId="{3EF7F786-25F6-4C8A-B334-30B5576CD895}" destId="{BA9C58AA-71E7-4471-AC10-839400AF1503}" srcOrd="2" destOrd="0" parTransId="{825F41FB-05F3-4DAE-9AD7-5A0CE400FA0B}" sibTransId="{58AFF513-C26A-4154-BE71-6931FC430D73}"/>
    <dgm:cxn modelId="{01F2EC1A-81B5-4D06-8F41-5B3181B06B0D}" srcId="{7DF830C4-3A4B-4A18-A481-1E16A1F6C743}" destId="{2EA3BD04-AED3-4A5F-944C-E7C2D57AF754}" srcOrd="2" destOrd="0" parTransId="{C33D48C4-31DD-4707-90DA-F0709887E706}" sibTransId="{667E0D1F-0875-4F81-8A7A-13C381A03C13}"/>
    <dgm:cxn modelId="{587A6322-9F23-42EB-88E3-B4AD6E7EE718}" srcId="{0455948A-CC32-4C33-B0E4-44B1A3072717}" destId="{D24E12EE-1342-4759-87D0-E4A9A093A24A}" srcOrd="5" destOrd="0" parTransId="{9218EED6-76BE-46C1-B21D-B855A0B208E4}" sibTransId="{97ADA645-7E54-48ED-ACF6-012A6256B1F7}"/>
    <dgm:cxn modelId="{FA97EB28-C338-4473-8820-835B21E5644C}" type="presOf" srcId="{AA512405-6ABA-4F8E-BBB2-B9039378F6B4}" destId="{E26E9301-E5B4-436E-84F2-D67DE3F56A66}" srcOrd="0" destOrd="0" presId="urn:microsoft.com/office/officeart/2005/8/layout/hList1"/>
    <dgm:cxn modelId="{0B3AFB2B-7FEE-4FA0-92D0-EA553C098240}" type="presOf" srcId="{63E68AA3-FA26-4FE7-A6D1-017F7E900EF6}" destId="{E26E9301-E5B4-436E-84F2-D67DE3F56A66}" srcOrd="0" destOrd="2" presId="urn:microsoft.com/office/officeart/2005/8/layout/hList1"/>
    <dgm:cxn modelId="{D092832E-CD37-4A7D-89F8-660636FAD6BE}" srcId="{7DF830C4-3A4B-4A18-A481-1E16A1F6C743}" destId="{A847DB84-81B1-46B6-B09C-D4CCEB8F19DD}" srcOrd="1" destOrd="0" parTransId="{3E92D8E1-6F70-4F63-A5CF-88EA0D2B2080}" sibTransId="{44BBB102-6172-42AF-9F5B-CB908A903EB7}"/>
    <dgm:cxn modelId="{1C976E34-A778-4BA4-AE83-DF2E9A124A41}" type="presOf" srcId="{8735C8A8-A8A0-4DD6-A948-E68C92FEC5F7}" destId="{7CCCE6B9-59E5-434A-8357-59A6D9A7C22E}" srcOrd="0" destOrd="1" presId="urn:microsoft.com/office/officeart/2005/8/layout/hList1"/>
    <dgm:cxn modelId="{7B86E63A-2FF3-4538-AB53-5E48B6A37F5C}" srcId="{F0BFF990-601B-436F-8061-B6F3A0D496EE}" destId="{3EF7F786-25F6-4C8A-B334-30B5576CD895}" srcOrd="2" destOrd="0" parTransId="{9AAA49B0-29B7-4327-A71E-DFFCE52B0371}" sibTransId="{8BCD8691-7CD6-4769-909B-31FDC6B31E77}"/>
    <dgm:cxn modelId="{4AB13A3D-21E5-49F6-A0A7-6CBCA167BF28}" type="presOf" srcId="{A847DB84-81B1-46B6-B09C-D4CCEB8F19DD}" destId="{57526475-70D2-4A86-A010-9FD2C153C040}" srcOrd="0" destOrd="1" presId="urn:microsoft.com/office/officeart/2005/8/layout/hList1"/>
    <dgm:cxn modelId="{EA8CDE41-ECCB-4E73-A4C2-4BB8BDA638EB}" srcId="{0455948A-CC32-4C33-B0E4-44B1A3072717}" destId="{83CE0000-06FA-42FF-8466-0FC5EADF9C67}" srcOrd="4" destOrd="0" parTransId="{6B9DD047-0E5F-48E6-9FC0-D756118D7193}" sibTransId="{2DD00877-A88E-46D5-9942-BC9D9072E879}"/>
    <dgm:cxn modelId="{CED72B43-894C-4F47-B307-30E187C6E313}" srcId="{7DF830C4-3A4B-4A18-A481-1E16A1F6C743}" destId="{C981D7D1-A17F-45C3-A6B3-0F6BBBF6E83A}" srcOrd="6" destOrd="0" parTransId="{0068DBBD-B5FE-4BF6-A956-4CD9DB54EE8D}" sibTransId="{45C897D0-93C1-47AA-9DB9-F7814D46909D}"/>
    <dgm:cxn modelId="{41AB7245-4189-4204-B94D-6DBDD935984A}" srcId="{3EF7F786-25F6-4C8A-B334-30B5576CD895}" destId="{2E9C43B4-4164-42CF-B3C6-9317DBAD813F}" srcOrd="3" destOrd="0" parTransId="{87A279A5-9197-4930-8C38-15CFFC00DD82}" sibTransId="{7C9FFDCE-B9A2-4952-B18B-F3013E7D9928}"/>
    <dgm:cxn modelId="{D31E8F45-7DF9-4669-97DD-F0794441D5A0}" srcId="{0455948A-CC32-4C33-B0E4-44B1A3072717}" destId="{A12F9C40-D5FD-41B1-8159-536625276242}" srcOrd="3" destOrd="0" parTransId="{04742AAE-BA10-47D5-BA13-C81C508CCE57}" sibTransId="{77605E0C-D7A5-4C4B-ABB6-878DED119BFE}"/>
    <dgm:cxn modelId="{04EBB948-D53E-4E40-A497-D3137FB366FA}" srcId="{3EF7F786-25F6-4C8A-B334-30B5576CD895}" destId="{B66D3DCA-4FED-4AC9-B736-E512F0434D3F}" srcOrd="0" destOrd="0" parTransId="{45550E3F-14F5-4E0D-9AB3-38BC43AFD308}" sibTransId="{1507938E-629E-4DC8-966F-6A44040E752E}"/>
    <dgm:cxn modelId="{6CB7F848-8507-4EB9-9446-DC09942F70C7}" type="presOf" srcId="{E3E9BE99-8684-4270-B7E7-F6D3C85231F0}" destId="{57526475-70D2-4A86-A010-9FD2C153C040}" srcOrd="0" destOrd="5" presId="urn:microsoft.com/office/officeart/2005/8/layout/hList1"/>
    <dgm:cxn modelId="{B2909D51-D381-4B0E-BA34-2D1FB66AF031}" type="presOf" srcId="{83CE0000-06FA-42FF-8466-0FC5EADF9C67}" destId="{E26E9301-E5B4-436E-84F2-D67DE3F56A66}" srcOrd="0" destOrd="4" presId="urn:microsoft.com/office/officeart/2005/8/layout/hList1"/>
    <dgm:cxn modelId="{C1E3BE5A-7246-4CB4-BB94-A59EFC350B47}" srcId="{0455948A-CC32-4C33-B0E4-44B1A3072717}" destId="{08ADF88B-4E73-479C-BDC4-DF3511970F4E}" srcOrd="6" destOrd="0" parTransId="{FECDFCA0-0C04-459A-961A-F1A2CEF13C92}" sibTransId="{5B540FA2-89D8-4ADD-A6F8-C9F68B848C48}"/>
    <dgm:cxn modelId="{B6B4C65E-C0C0-442C-AB2A-7EF438F21FD0}" type="presOf" srcId="{52F342C6-2091-4F46-ACB5-E0697F26FE7A}" destId="{57526475-70D2-4A86-A010-9FD2C153C040}" srcOrd="0" destOrd="0" presId="urn:microsoft.com/office/officeart/2005/8/layout/hList1"/>
    <dgm:cxn modelId="{804C2863-4439-4F62-A338-634D7720E70A}" type="presOf" srcId="{3EF7F786-25F6-4C8A-B334-30B5576CD895}" destId="{CC097C33-01E3-4E9F-8685-103864C04744}" srcOrd="0" destOrd="0" presId="urn:microsoft.com/office/officeart/2005/8/layout/hList1"/>
    <dgm:cxn modelId="{60DA6168-DDCC-4A5F-8043-8F86CE57945F}" type="presOf" srcId="{05669450-148E-4281-85E1-BF80A26F4848}" destId="{E26E9301-E5B4-436E-84F2-D67DE3F56A66}" srcOrd="0" destOrd="7" presId="urn:microsoft.com/office/officeart/2005/8/layout/hList1"/>
    <dgm:cxn modelId="{919BD36F-954A-473A-8392-82FB70E1AB74}" type="presOf" srcId="{2EA3BD04-AED3-4A5F-944C-E7C2D57AF754}" destId="{57526475-70D2-4A86-A010-9FD2C153C040}" srcOrd="0" destOrd="2" presId="urn:microsoft.com/office/officeart/2005/8/layout/hList1"/>
    <dgm:cxn modelId="{870E7570-4436-4798-AC02-DD0BC462D991}" srcId="{7DF830C4-3A4B-4A18-A481-1E16A1F6C743}" destId="{86DD3E27-BF7B-47DA-A694-E4B186253248}" srcOrd="4" destOrd="0" parTransId="{69058D72-F30E-453D-AA36-EA9E080E0D62}" sibTransId="{C456E761-4AAA-47CD-A924-D44F0ECDA27A}"/>
    <dgm:cxn modelId="{40994071-5831-4515-B434-D86908355937}" srcId="{0455948A-CC32-4C33-B0E4-44B1A3072717}" destId="{4FB864C5-4A75-4490-9C65-80626E889536}" srcOrd="1" destOrd="0" parTransId="{FBBB0FE1-9D8A-49E1-8EF0-1F52E0BF0606}" sibTransId="{DC192F11-634E-4BFD-B945-3E07357BCBB8}"/>
    <dgm:cxn modelId="{A7F5A180-D0DE-4DA0-B74D-C5027FA033CF}" type="presOf" srcId="{5539CF33-4713-4AA8-910D-FE76701EEE7B}" destId="{7CCCE6B9-59E5-434A-8357-59A6D9A7C22E}" srcOrd="0" destOrd="4" presId="urn:microsoft.com/office/officeart/2005/8/layout/hList1"/>
    <dgm:cxn modelId="{A4CD8F84-901A-4B48-A16D-1D27755C983B}" type="presOf" srcId="{F0BFF990-601B-436F-8061-B6F3A0D496EE}" destId="{48CCEACA-AA3E-42F3-9142-E7E98F6C81AE}" srcOrd="0" destOrd="0" presId="urn:microsoft.com/office/officeart/2005/8/layout/hList1"/>
    <dgm:cxn modelId="{779EDC88-D679-4126-B729-9A37AA3ED7AD}" type="presOf" srcId="{D24E12EE-1342-4759-87D0-E4A9A093A24A}" destId="{E26E9301-E5B4-436E-84F2-D67DE3F56A66}" srcOrd="0" destOrd="5" presId="urn:microsoft.com/office/officeart/2005/8/layout/hList1"/>
    <dgm:cxn modelId="{6017CD89-DCB1-459C-B3B0-BF14EAB188FE}" srcId="{0455948A-CC32-4C33-B0E4-44B1A3072717}" destId="{05669450-148E-4281-85E1-BF80A26F4848}" srcOrd="7" destOrd="0" parTransId="{71C80F9F-070A-4006-ABF4-1EE4F05C93A5}" sibTransId="{D723F52F-57D1-4AE1-9A04-CF7AAE9D6119}"/>
    <dgm:cxn modelId="{242F078B-726F-4F1D-90F0-0475E4DF17BD}" type="presOf" srcId="{4FB864C5-4A75-4490-9C65-80626E889536}" destId="{E26E9301-E5B4-436E-84F2-D67DE3F56A66}" srcOrd="0" destOrd="1" presId="urn:microsoft.com/office/officeart/2005/8/layout/hList1"/>
    <dgm:cxn modelId="{712C1C8E-3F62-4AE7-BD50-ACF420BB3DB2}" srcId="{0455948A-CC32-4C33-B0E4-44B1A3072717}" destId="{AA512405-6ABA-4F8E-BBB2-B9039378F6B4}" srcOrd="0" destOrd="0" parTransId="{527865A2-86C3-49EB-AE9E-F2EA12912705}" sibTransId="{FE1600DA-8F73-4A0D-9798-53D38F9F1E40}"/>
    <dgm:cxn modelId="{10CF688E-9412-4F4D-BB01-08C42469A5BD}" srcId="{3EF7F786-25F6-4C8A-B334-30B5576CD895}" destId="{5539CF33-4713-4AA8-910D-FE76701EEE7B}" srcOrd="4" destOrd="0" parTransId="{53E1A6F7-62C6-463B-A9EA-6473EECFBE19}" sibTransId="{B6D3C613-CE0B-4551-B3D5-5D764E8726D8}"/>
    <dgm:cxn modelId="{D2237C94-6B9B-42C8-86CE-F4C4D66FB0A5}" srcId="{7DF830C4-3A4B-4A18-A481-1E16A1F6C743}" destId="{52F342C6-2091-4F46-ACB5-E0697F26FE7A}" srcOrd="0" destOrd="0" parTransId="{8CE9A9A8-22C8-4225-8D25-F5838636BBAF}" sibTransId="{8EBB7FF0-4069-4387-A2D7-F8F2A67E3D84}"/>
    <dgm:cxn modelId="{633ABE94-7434-48B7-8967-D1E6951112CB}" type="presOf" srcId="{08ADF88B-4E73-479C-BDC4-DF3511970F4E}" destId="{E26E9301-E5B4-436E-84F2-D67DE3F56A66}" srcOrd="0" destOrd="6" presId="urn:microsoft.com/office/officeart/2005/8/layout/hList1"/>
    <dgm:cxn modelId="{9038BA97-43EE-4616-BC10-6C1F74C59B07}" srcId="{F0BFF990-601B-436F-8061-B6F3A0D496EE}" destId="{7DF830C4-3A4B-4A18-A481-1E16A1F6C743}" srcOrd="0" destOrd="0" parTransId="{306A5395-1D1E-424E-AE94-909F9E445D68}" sibTransId="{2F54C578-A3AF-4E3E-8E2C-B3963E8A3D82}"/>
    <dgm:cxn modelId="{613E279B-981C-49FC-B99B-41C0359ED9BC}" type="presOf" srcId="{BA9C58AA-71E7-4471-AC10-839400AF1503}" destId="{7CCCE6B9-59E5-434A-8357-59A6D9A7C22E}" srcOrd="0" destOrd="2" presId="urn:microsoft.com/office/officeart/2005/8/layout/hList1"/>
    <dgm:cxn modelId="{2715BEA5-A37C-4657-803A-647F7016835C}" type="presOf" srcId="{86DD3E27-BF7B-47DA-A694-E4B186253248}" destId="{57526475-70D2-4A86-A010-9FD2C153C040}" srcOrd="0" destOrd="4" presId="urn:microsoft.com/office/officeart/2005/8/layout/hList1"/>
    <dgm:cxn modelId="{C32007A7-3B01-46B1-850C-A28D39D6E52D}" srcId="{7DF830C4-3A4B-4A18-A481-1E16A1F6C743}" destId="{E3E9BE99-8684-4270-B7E7-F6D3C85231F0}" srcOrd="5" destOrd="0" parTransId="{A51DAE68-1809-4C4D-923F-03AE177E15FB}" sibTransId="{D96B11A7-4A9D-4724-860D-9B1607695F3A}"/>
    <dgm:cxn modelId="{77467CA8-D5AD-404E-9BD6-D7CF4E0E0D72}" srcId="{7DF830C4-3A4B-4A18-A481-1E16A1F6C743}" destId="{D9EC39E7-B30F-4D7B-BD1A-C40D389A896D}" srcOrd="3" destOrd="0" parTransId="{8362CA6E-50EA-40DA-BFAE-51AE93BD5EBE}" sibTransId="{520AA268-ECF2-435C-B086-04B180DD56E7}"/>
    <dgm:cxn modelId="{CE759FB3-79B2-427C-A8D9-B1D4723C8FB0}" type="presOf" srcId="{7DF830C4-3A4B-4A18-A481-1E16A1F6C743}" destId="{FC1CD385-E3C2-4071-96E5-986892C4E949}" srcOrd="0" destOrd="0" presId="urn:microsoft.com/office/officeart/2005/8/layout/hList1"/>
    <dgm:cxn modelId="{FF67FDB6-D070-4FDD-AE27-FF2F5DD9082C}" type="presOf" srcId="{C981D7D1-A17F-45C3-A6B3-0F6BBBF6E83A}" destId="{57526475-70D2-4A86-A010-9FD2C153C040}" srcOrd="0" destOrd="6" presId="urn:microsoft.com/office/officeart/2005/8/layout/hList1"/>
    <dgm:cxn modelId="{FBED4FB8-188B-4B58-AD91-06FDF5FBABDD}" type="presOf" srcId="{D9EC39E7-B30F-4D7B-BD1A-C40D389A896D}" destId="{57526475-70D2-4A86-A010-9FD2C153C040}" srcOrd="0" destOrd="3" presId="urn:microsoft.com/office/officeart/2005/8/layout/hList1"/>
    <dgm:cxn modelId="{F26861CD-5878-4362-92ED-2637FF137797}" type="presOf" srcId="{2E9C43B4-4164-42CF-B3C6-9317DBAD813F}" destId="{7CCCE6B9-59E5-434A-8357-59A6D9A7C22E}" srcOrd="0" destOrd="3" presId="urn:microsoft.com/office/officeart/2005/8/layout/hList1"/>
    <dgm:cxn modelId="{E1DE76DE-2DC7-4E13-AFB1-40CDCCBBDA7B}" type="presOf" srcId="{0455948A-CC32-4C33-B0E4-44B1A3072717}" destId="{0D8EEB89-0A7C-4B42-A234-8375FE9870BF}" srcOrd="0" destOrd="0" presId="urn:microsoft.com/office/officeart/2005/8/layout/hList1"/>
    <dgm:cxn modelId="{67834FE9-1C38-46F7-BB31-8C1C9E7EDCD7}" type="presOf" srcId="{B66D3DCA-4FED-4AC9-B736-E512F0434D3F}" destId="{7CCCE6B9-59E5-434A-8357-59A6D9A7C22E}" srcOrd="0" destOrd="0" presId="urn:microsoft.com/office/officeart/2005/8/layout/hList1"/>
    <dgm:cxn modelId="{B1071FF0-6730-4FB0-9A27-D8F09C199B25}" srcId="{0455948A-CC32-4C33-B0E4-44B1A3072717}" destId="{63E68AA3-FA26-4FE7-A6D1-017F7E900EF6}" srcOrd="2" destOrd="0" parTransId="{E56C323B-0934-48E1-BFBF-F37200DD43D7}" sibTransId="{B41FF216-F804-4FD2-8AFE-B14F2234C42E}"/>
    <dgm:cxn modelId="{2CD83EF0-79DD-40DF-83CC-605253635172}" type="presOf" srcId="{A12F9C40-D5FD-41B1-8159-536625276242}" destId="{E26E9301-E5B4-436E-84F2-D67DE3F56A66}" srcOrd="0" destOrd="3" presId="urn:microsoft.com/office/officeart/2005/8/layout/hList1"/>
    <dgm:cxn modelId="{F27023F3-C59F-42B1-8418-8AF0B0D579FB}" srcId="{F0BFF990-601B-436F-8061-B6F3A0D496EE}" destId="{0455948A-CC32-4C33-B0E4-44B1A3072717}" srcOrd="1" destOrd="0" parTransId="{750F9CD9-4DDA-462C-8F58-117474B499CA}" sibTransId="{96D542A0-61C0-4668-AB41-660A3C8E143C}"/>
    <dgm:cxn modelId="{BDA752F7-9F29-4DC6-97E5-D96F14EFE1EB}" srcId="{3EF7F786-25F6-4C8A-B334-30B5576CD895}" destId="{8735C8A8-A8A0-4DD6-A948-E68C92FEC5F7}" srcOrd="1" destOrd="0" parTransId="{A8DC8C94-71BD-4711-960E-BD0BF77AE43B}" sibTransId="{8CEF64DF-1146-42FB-8AA2-F2472A3DB0D3}"/>
    <dgm:cxn modelId="{B4E9D0AE-CA1D-4ABE-923E-5F7E44158DFD}" type="presParOf" srcId="{48CCEACA-AA3E-42F3-9142-E7E98F6C81AE}" destId="{B3EF7BB3-D1E4-4E10-AFAD-AA053A07CF67}" srcOrd="0" destOrd="0" presId="urn:microsoft.com/office/officeart/2005/8/layout/hList1"/>
    <dgm:cxn modelId="{03E88704-2CCE-4419-A5FB-8F492F91576E}" type="presParOf" srcId="{B3EF7BB3-D1E4-4E10-AFAD-AA053A07CF67}" destId="{FC1CD385-E3C2-4071-96E5-986892C4E949}" srcOrd="0" destOrd="0" presId="urn:microsoft.com/office/officeart/2005/8/layout/hList1"/>
    <dgm:cxn modelId="{93348101-2863-4E12-B2BA-FF74772F0715}" type="presParOf" srcId="{B3EF7BB3-D1E4-4E10-AFAD-AA053A07CF67}" destId="{57526475-70D2-4A86-A010-9FD2C153C040}" srcOrd="1" destOrd="0" presId="urn:microsoft.com/office/officeart/2005/8/layout/hList1"/>
    <dgm:cxn modelId="{B444B671-7202-4B49-A174-B5B69FC02C0B}" type="presParOf" srcId="{48CCEACA-AA3E-42F3-9142-E7E98F6C81AE}" destId="{4626D3A7-532D-4D90-9734-DC05791E3FD0}" srcOrd="1" destOrd="0" presId="urn:microsoft.com/office/officeart/2005/8/layout/hList1"/>
    <dgm:cxn modelId="{B3654482-F9A9-41CA-A835-64DCEE01DE43}" type="presParOf" srcId="{48CCEACA-AA3E-42F3-9142-E7E98F6C81AE}" destId="{56EE4AD4-F38C-494E-AF7C-4272AC365BD0}" srcOrd="2" destOrd="0" presId="urn:microsoft.com/office/officeart/2005/8/layout/hList1"/>
    <dgm:cxn modelId="{51D41536-C086-4168-8945-4533FDBE679B}" type="presParOf" srcId="{56EE4AD4-F38C-494E-AF7C-4272AC365BD0}" destId="{0D8EEB89-0A7C-4B42-A234-8375FE9870BF}" srcOrd="0" destOrd="0" presId="urn:microsoft.com/office/officeart/2005/8/layout/hList1"/>
    <dgm:cxn modelId="{FFA08CFA-D41B-46CA-99A6-2785EE05B92F}" type="presParOf" srcId="{56EE4AD4-F38C-494E-AF7C-4272AC365BD0}" destId="{E26E9301-E5B4-436E-84F2-D67DE3F56A66}" srcOrd="1" destOrd="0" presId="urn:microsoft.com/office/officeart/2005/8/layout/hList1"/>
    <dgm:cxn modelId="{F0D87B36-E1E1-40DB-8F36-8A427C8E4380}" type="presParOf" srcId="{48CCEACA-AA3E-42F3-9142-E7E98F6C81AE}" destId="{EAF03A3E-4C4C-49B6-ADC1-565D7861FA42}" srcOrd="3" destOrd="0" presId="urn:microsoft.com/office/officeart/2005/8/layout/hList1"/>
    <dgm:cxn modelId="{CBF0CAA8-E1E2-4F36-A46F-DB07551F8695}" type="presParOf" srcId="{48CCEACA-AA3E-42F3-9142-E7E98F6C81AE}" destId="{17638AF5-7B78-4F7C-8211-AD5B37C5F42E}" srcOrd="4" destOrd="0" presId="urn:microsoft.com/office/officeart/2005/8/layout/hList1"/>
    <dgm:cxn modelId="{1A2EF2C9-1360-4374-94E2-7030831F1CED}" type="presParOf" srcId="{17638AF5-7B78-4F7C-8211-AD5B37C5F42E}" destId="{CC097C33-01E3-4E9F-8685-103864C04744}" srcOrd="0" destOrd="0" presId="urn:microsoft.com/office/officeart/2005/8/layout/hList1"/>
    <dgm:cxn modelId="{A557674F-382B-4E4F-8993-9A1522BD0448}" type="presParOf" srcId="{17638AF5-7B78-4F7C-8211-AD5B37C5F42E}" destId="{7CCCE6B9-59E5-434A-8357-59A6D9A7C2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84B48-380A-4A2E-8B33-DFCAB05E5E39}">
      <dsp:nvSpPr>
        <dsp:cNvPr id="0" name=""/>
        <dsp:cNvSpPr/>
      </dsp:nvSpPr>
      <dsp:spPr>
        <a:xfrm>
          <a:off x="0" y="2247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D77D3-6735-4486-B6D7-4CE22ACF38F6}">
      <dsp:nvSpPr>
        <dsp:cNvPr id="0" name=""/>
        <dsp:cNvSpPr/>
      </dsp:nvSpPr>
      <dsp:spPr>
        <a:xfrm>
          <a:off x="126483" y="96326"/>
          <a:ext cx="229970" cy="229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B6004-C877-421B-9B77-A3A391EBB9A8}">
      <dsp:nvSpPr>
        <dsp:cNvPr id="0" name=""/>
        <dsp:cNvSpPr/>
      </dsp:nvSpPr>
      <dsp:spPr>
        <a:xfrm>
          <a:off x="482937" y="2247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Introduction</a:t>
          </a:r>
        </a:p>
      </dsp:txBody>
      <dsp:txXfrm>
        <a:off x="482937" y="2247"/>
        <a:ext cx="5858078" cy="418127"/>
      </dsp:txXfrm>
    </dsp:sp>
    <dsp:sp modelId="{A6AC4967-F6FC-46EA-90D4-6AAA99C70001}">
      <dsp:nvSpPr>
        <dsp:cNvPr id="0" name=""/>
        <dsp:cNvSpPr/>
      </dsp:nvSpPr>
      <dsp:spPr>
        <a:xfrm>
          <a:off x="0" y="524907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B5D7A-FD30-4F45-A695-10AEE0333B3E}">
      <dsp:nvSpPr>
        <dsp:cNvPr id="0" name=""/>
        <dsp:cNvSpPr/>
      </dsp:nvSpPr>
      <dsp:spPr>
        <a:xfrm>
          <a:off x="126483" y="618986"/>
          <a:ext cx="229970" cy="229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B0C97-A820-4EDF-83DF-AB9AC1760ED9}">
      <dsp:nvSpPr>
        <dsp:cNvPr id="0" name=""/>
        <dsp:cNvSpPr/>
      </dsp:nvSpPr>
      <dsp:spPr>
        <a:xfrm>
          <a:off x="482937" y="524907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Meet the Team</a:t>
          </a:r>
        </a:p>
      </dsp:txBody>
      <dsp:txXfrm>
        <a:off x="482937" y="524907"/>
        <a:ext cx="5858078" cy="418127"/>
      </dsp:txXfrm>
    </dsp:sp>
    <dsp:sp modelId="{FEA9F069-9E72-4E31-A0CA-39A012DE8733}">
      <dsp:nvSpPr>
        <dsp:cNvPr id="0" name=""/>
        <dsp:cNvSpPr/>
      </dsp:nvSpPr>
      <dsp:spPr>
        <a:xfrm>
          <a:off x="0" y="1047567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3B3E9-30DC-4A53-821A-E8AAE943A437}">
      <dsp:nvSpPr>
        <dsp:cNvPr id="0" name=""/>
        <dsp:cNvSpPr/>
      </dsp:nvSpPr>
      <dsp:spPr>
        <a:xfrm>
          <a:off x="126483" y="1141645"/>
          <a:ext cx="229970" cy="2299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EC935-373C-4A69-837F-6123EC0751E2}">
      <dsp:nvSpPr>
        <dsp:cNvPr id="0" name=""/>
        <dsp:cNvSpPr/>
      </dsp:nvSpPr>
      <dsp:spPr>
        <a:xfrm>
          <a:off x="482937" y="1047567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Project Details</a:t>
          </a:r>
        </a:p>
      </dsp:txBody>
      <dsp:txXfrm>
        <a:off x="482937" y="1047567"/>
        <a:ext cx="5858078" cy="418127"/>
      </dsp:txXfrm>
    </dsp:sp>
    <dsp:sp modelId="{5000E3F9-8A30-47B7-822F-05643AD600EF}">
      <dsp:nvSpPr>
        <dsp:cNvPr id="0" name=""/>
        <dsp:cNvSpPr/>
      </dsp:nvSpPr>
      <dsp:spPr>
        <a:xfrm>
          <a:off x="0" y="1570226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1611C-758B-4250-A787-B039FF0DD1BB}">
      <dsp:nvSpPr>
        <dsp:cNvPr id="0" name=""/>
        <dsp:cNvSpPr/>
      </dsp:nvSpPr>
      <dsp:spPr>
        <a:xfrm>
          <a:off x="126483" y="1664305"/>
          <a:ext cx="229970" cy="2299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1F3CC-524E-43B0-A638-AF9EC5F62C8B}">
      <dsp:nvSpPr>
        <dsp:cNvPr id="0" name=""/>
        <dsp:cNvSpPr/>
      </dsp:nvSpPr>
      <dsp:spPr>
        <a:xfrm>
          <a:off x="482937" y="1570226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Key Objectives and Resources</a:t>
          </a:r>
        </a:p>
      </dsp:txBody>
      <dsp:txXfrm>
        <a:off x="482937" y="1570226"/>
        <a:ext cx="5858078" cy="418127"/>
      </dsp:txXfrm>
    </dsp:sp>
    <dsp:sp modelId="{AC1E5C36-38DA-4857-9B83-3F46420B17EF}">
      <dsp:nvSpPr>
        <dsp:cNvPr id="0" name=""/>
        <dsp:cNvSpPr/>
      </dsp:nvSpPr>
      <dsp:spPr>
        <a:xfrm>
          <a:off x="0" y="2092886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2EA7A-EAE3-4574-8796-1DF34B7E4CC2}">
      <dsp:nvSpPr>
        <dsp:cNvPr id="0" name=""/>
        <dsp:cNvSpPr/>
      </dsp:nvSpPr>
      <dsp:spPr>
        <a:xfrm>
          <a:off x="126483" y="2186964"/>
          <a:ext cx="229970" cy="2299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74445-6349-4D27-9D33-EEE6997F23EB}">
      <dsp:nvSpPr>
        <dsp:cNvPr id="0" name=""/>
        <dsp:cNvSpPr/>
      </dsp:nvSpPr>
      <dsp:spPr>
        <a:xfrm>
          <a:off x="482937" y="2092886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COHV Data and Research</a:t>
          </a:r>
        </a:p>
      </dsp:txBody>
      <dsp:txXfrm>
        <a:off x="482937" y="2092886"/>
        <a:ext cx="5858078" cy="418127"/>
      </dsp:txXfrm>
    </dsp:sp>
    <dsp:sp modelId="{9C15B7C8-3647-419C-9C3A-2D4C43E3F670}">
      <dsp:nvSpPr>
        <dsp:cNvPr id="0" name=""/>
        <dsp:cNvSpPr/>
      </dsp:nvSpPr>
      <dsp:spPr>
        <a:xfrm>
          <a:off x="0" y="2615545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E515B-DF89-412D-9C9E-8ADD0F85505B}">
      <dsp:nvSpPr>
        <dsp:cNvPr id="0" name=""/>
        <dsp:cNvSpPr/>
      </dsp:nvSpPr>
      <dsp:spPr>
        <a:xfrm>
          <a:off x="126483" y="2709624"/>
          <a:ext cx="229970" cy="2299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05620-5B9E-43EC-8C2F-7F967247A61E}">
      <dsp:nvSpPr>
        <dsp:cNvPr id="0" name=""/>
        <dsp:cNvSpPr/>
      </dsp:nvSpPr>
      <dsp:spPr>
        <a:xfrm>
          <a:off x="482937" y="2615545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Fire Department Succession</a:t>
          </a:r>
        </a:p>
      </dsp:txBody>
      <dsp:txXfrm>
        <a:off x="482937" y="2615545"/>
        <a:ext cx="5858078" cy="418127"/>
      </dsp:txXfrm>
    </dsp:sp>
    <dsp:sp modelId="{85B6C4B1-F120-4191-8C9B-20380627DE99}">
      <dsp:nvSpPr>
        <dsp:cNvPr id="0" name=""/>
        <dsp:cNvSpPr/>
      </dsp:nvSpPr>
      <dsp:spPr>
        <a:xfrm>
          <a:off x="0" y="3138205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8FDAB-084B-4F28-AFB8-FAB99DD0A60F}">
      <dsp:nvSpPr>
        <dsp:cNvPr id="0" name=""/>
        <dsp:cNvSpPr/>
      </dsp:nvSpPr>
      <dsp:spPr>
        <a:xfrm>
          <a:off x="126483" y="3232283"/>
          <a:ext cx="229970" cy="22997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1F4AE-55DE-428F-BB13-7016031877E1}">
      <dsp:nvSpPr>
        <dsp:cNvPr id="0" name=""/>
        <dsp:cNvSpPr/>
      </dsp:nvSpPr>
      <dsp:spPr>
        <a:xfrm>
          <a:off x="482937" y="3138205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badi" panose="020B0604020104020204" pitchFamily="34" charset="0"/>
            </a:rPr>
            <a:t>Parks and Recreation Succession</a:t>
          </a:r>
        </a:p>
      </dsp:txBody>
      <dsp:txXfrm>
        <a:off x="482937" y="3138205"/>
        <a:ext cx="5858078" cy="418127"/>
      </dsp:txXfrm>
    </dsp:sp>
    <dsp:sp modelId="{D3A7CCA0-E6E0-4B1E-80CF-D35A7F05DCAF}">
      <dsp:nvSpPr>
        <dsp:cNvPr id="0" name=""/>
        <dsp:cNvSpPr/>
      </dsp:nvSpPr>
      <dsp:spPr>
        <a:xfrm>
          <a:off x="0" y="3660864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C7A7B-1AB2-4DC4-961B-F8ECE218A24B}">
      <dsp:nvSpPr>
        <dsp:cNvPr id="0" name=""/>
        <dsp:cNvSpPr/>
      </dsp:nvSpPr>
      <dsp:spPr>
        <a:xfrm>
          <a:off x="126483" y="3754943"/>
          <a:ext cx="229970" cy="22997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27A1E-7D5B-459D-A032-4B564EFFAC03}">
      <dsp:nvSpPr>
        <dsp:cNvPr id="0" name=""/>
        <dsp:cNvSpPr/>
      </dsp:nvSpPr>
      <dsp:spPr>
        <a:xfrm>
          <a:off x="482937" y="3660864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82937" y="3660864"/>
        <a:ext cx="5858078" cy="418127"/>
      </dsp:txXfrm>
    </dsp:sp>
    <dsp:sp modelId="{F5BB0AE6-06AC-46A0-9808-661ACC316D77}">
      <dsp:nvSpPr>
        <dsp:cNvPr id="0" name=""/>
        <dsp:cNvSpPr/>
      </dsp:nvSpPr>
      <dsp:spPr>
        <a:xfrm>
          <a:off x="0" y="4183524"/>
          <a:ext cx="6341016" cy="4181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D85CF-DD91-4FC6-9283-FC9597869906}">
      <dsp:nvSpPr>
        <dsp:cNvPr id="0" name=""/>
        <dsp:cNvSpPr/>
      </dsp:nvSpPr>
      <dsp:spPr>
        <a:xfrm>
          <a:off x="126483" y="4277603"/>
          <a:ext cx="229970" cy="229970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A2C34-E67D-4461-8AB7-9AC9DF16D15E}">
      <dsp:nvSpPr>
        <dsp:cNvPr id="0" name=""/>
        <dsp:cNvSpPr/>
      </dsp:nvSpPr>
      <dsp:spPr>
        <a:xfrm>
          <a:off x="482937" y="4183524"/>
          <a:ext cx="5858078" cy="4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252" tIns="44252" rIns="44252" bIns="4425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82937" y="4183524"/>
        <a:ext cx="5858078" cy="4181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9BECD-F9C5-4B44-9E29-7AAEC3D37582}">
      <dsp:nvSpPr>
        <dsp:cNvPr id="0" name=""/>
        <dsp:cNvSpPr/>
      </dsp:nvSpPr>
      <dsp:spPr>
        <a:xfrm>
          <a:off x="-302829" y="2953940"/>
          <a:ext cx="2725465" cy="17306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3098E-6BF4-4BB1-8201-65850C5A3427}">
      <dsp:nvSpPr>
        <dsp:cNvPr id="0" name=""/>
        <dsp:cNvSpPr/>
      </dsp:nvSpPr>
      <dsp:spPr>
        <a:xfrm>
          <a:off x="0" y="3241628"/>
          <a:ext cx="2725465" cy="173067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badi"/>
              <a:ea typeface="+mn-ea"/>
              <a:cs typeface="+mn-cs"/>
            </a:rPr>
            <a:t>Jacqueline Beltran 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badi"/>
              <a:ea typeface="+mn-ea"/>
              <a:cs typeface="+mn-cs"/>
            </a:rPr>
            <a:t>MBA/MSHR</a:t>
          </a:r>
        </a:p>
      </dsp:txBody>
      <dsp:txXfrm>
        <a:off x="50690" y="3292318"/>
        <a:ext cx="2624085" cy="1629290"/>
      </dsp:txXfrm>
    </dsp:sp>
    <dsp:sp modelId="{72093AB4-29F6-4B30-9BBF-4B6FC3C5CA3D}">
      <dsp:nvSpPr>
        <dsp:cNvPr id="0" name=""/>
        <dsp:cNvSpPr/>
      </dsp:nvSpPr>
      <dsp:spPr>
        <a:xfrm>
          <a:off x="2998454" y="2953940"/>
          <a:ext cx="2725465" cy="17306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3C291-B4BE-45C8-963D-9AD34735D33F}">
      <dsp:nvSpPr>
        <dsp:cNvPr id="0" name=""/>
        <dsp:cNvSpPr/>
      </dsp:nvSpPr>
      <dsp:spPr>
        <a:xfrm>
          <a:off x="3301284" y="3241628"/>
          <a:ext cx="2725465" cy="173067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badi"/>
              <a:ea typeface="+mn-ea"/>
              <a:cs typeface="+mn-cs"/>
            </a:rPr>
            <a:t>Kishan S B 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badi"/>
              <a:ea typeface="+mn-ea"/>
              <a:cs typeface="+mn-cs"/>
            </a:rPr>
            <a:t>Masters of Business Analytics</a:t>
          </a:r>
          <a:endParaRPr lang="en-US" sz="2000" b="1" kern="1200">
            <a:latin typeface="Abadi" panose="020B0604020104020204" pitchFamily="34" charset="0"/>
            <a:ea typeface="+mn-ea"/>
            <a:cs typeface="+mn-cs"/>
          </a:endParaRPr>
        </a:p>
      </dsp:txBody>
      <dsp:txXfrm>
        <a:off x="3351974" y="3292318"/>
        <a:ext cx="2624085" cy="1629290"/>
      </dsp:txXfrm>
    </dsp:sp>
    <dsp:sp modelId="{8648A8D2-6361-4592-86E0-30CA0B82FB55}">
      <dsp:nvSpPr>
        <dsp:cNvPr id="0" name=""/>
        <dsp:cNvSpPr/>
      </dsp:nvSpPr>
      <dsp:spPr>
        <a:xfrm>
          <a:off x="6267111" y="2953940"/>
          <a:ext cx="2725465" cy="17306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9AA7D-2F46-416C-9809-03EAF3D266E0}">
      <dsp:nvSpPr>
        <dsp:cNvPr id="0" name=""/>
        <dsp:cNvSpPr/>
      </dsp:nvSpPr>
      <dsp:spPr>
        <a:xfrm>
          <a:off x="6569941" y="3241628"/>
          <a:ext cx="2725465" cy="173067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err="1">
              <a:latin typeface="Abadi"/>
              <a:ea typeface="+mn-ea"/>
              <a:cs typeface="+mn-cs"/>
            </a:rPr>
            <a:t>Mrunalinee</a:t>
          </a:r>
          <a:r>
            <a:rPr lang="en-US" sz="1700" b="1" kern="1200">
              <a:latin typeface="Abadi"/>
              <a:ea typeface="+mn-ea"/>
              <a:cs typeface="+mn-cs"/>
            </a:rPr>
            <a:t> Desai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badi"/>
              <a:ea typeface="+mn-ea"/>
              <a:cs typeface="+mn-cs"/>
            </a:rPr>
            <a:t>(Project Manager)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badi"/>
              <a:ea typeface="+mn-ea"/>
              <a:cs typeface="+mn-cs"/>
            </a:rPr>
            <a:t>Masters of Information Systems</a:t>
          </a:r>
          <a:endParaRPr lang="en-US" sz="1700" b="1" kern="1200">
            <a:latin typeface="Abadi" panose="020B0604020104020204" pitchFamily="34" charset="0"/>
            <a:ea typeface="+mn-ea"/>
            <a:cs typeface="+mn-cs"/>
          </a:endParaRPr>
        </a:p>
      </dsp:txBody>
      <dsp:txXfrm>
        <a:off x="6620631" y="3292318"/>
        <a:ext cx="2624085" cy="1629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CD385-E3C2-4071-96E5-986892C4E949}">
      <dsp:nvSpPr>
        <dsp:cNvPr id="0" name=""/>
        <dsp:cNvSpPr/>
      </dsp:nvSpPr>
      <dsp:spPr>
        <a:xfrm>
          <a:off x="2345" y="101429"/>
          <a:ext cx="2286761" cy="6546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Short-Term: 0–1 Year</a:t>
          </a:r>
          <a:endParaRPr lang="en-US" sz="1800" kern="1200"/>
        </a:p>
      </dsp:txBody>
      <dsp:txXfrm>
        <a:off x="2345" y="101429"/>
        <a:ext cx="2286761" cy="654629"/>
      </dsp:txXfrm>
    </dsp:sp>
    <dsp:sp modelId="{57526475-70D2-4A86-A010-9FD2C153C040}">
      <dsp:nvSpPr>
        <dsp:cNvPr id="0" name=""/>
        <dsp:cNvSpPr/>
      </dsp:nvSpPr>
      <dsp:spPr>
        <a:xfrm>
          <a:off x="2345" y="756058"/>
          <a:ext cx="2286761" cy="311283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Use acting assignments when needed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Identify who is closest to being ready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Start individual development plans for each potential successor </a:t>
          </a:r>
        </a:p>
      </dsp:txBody>
      <dsp:txXfrm>
        <a:off x="2345" y="756058"/>
        <a:ext cx="2286761" cy="3112830"/>
      </dsp:txXfrm>
    </dsp:sp>
    <dsp:sp modelId="{0D8EEB89-0A7C-4B42-A234-8375FE9870BF}">
      <dsp:nvSpPr>
        <dsp:cNvPr id="0" name=""/>
        <dsp:cNvSpPr/>
      </dsp:nvSpPr>
      <dsp:spPr>
        <a:xfrm>
          <a:off x="2609253" y="101429"/>
          <a:ext cx="2286761" cy="6546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Mid-Term: 1–3 Years</a:t>
          </a:r>
          <a:endParaRPr lang="en-US" sz="1800" kern="1200"/>
        </a:p>
      </dsp:txBody>
      <dsp:txXfrm>
        <a:off x="2609253" y="101429"/>
        <a:ext cx="2286761" cy="654629"/>
      </dsp:txXfrm>
    </dsp:sp>
    <dsp:sp modelId="{E26E9301-E5B4-436E-84F2-D67DE3F56A66}">
      <dsp:nvSpPr>
        <dsp:cNvPr id="0" name=""/>
        <dsp:cNvSpPr/>
      </dsp:nvSpPr>
      <dsp:spPr>
        <a:xfrm>
          <a:off x="2609253" y="756058"/>
          <a:ext cx="2286761" cy="311283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Help employees complete required certifications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Give future leaders more shift leadership experience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Focus on Driver/Operator to Captain development </a:t>
          </a:r>
        </a:p>
      </dsp:txBody>
      <dsp:txXfrm>
        <a:off x="2609253" y="756058"/>
        <a:ext cx="2286761" cy="3112830"/>
      </dsp:txXfrm>
    </dsp:sp>
    <dsp:sp modelId="{CC097C33-01E3-4E9F-8685-103864C04744}">
      <dsp:nvSpPr>
        <dsp:cNvPr id="0" name=""/>
        <dsp:cNvSpPr/>
      </dsp:nvSpPr>
      <dsp:spPr>
        <a:xfrm>
          <a:off x="5216161" y="101429"/>
          <a:ext cx="2286761" cy="6546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Long-Term: 3–5 Years</a:t>
          </a:r>
          <a:endParaRPr lang="en-US" sz="1800" kern="1200"/>
        </a:p>
      </dsp:txBody>
      <dsp:txXfrm>
        <a:off x="5216161" y="101429"/>
        <a:ext cx="2286761" cy="654629"/>
      </dsp:txXfrm>
    </dsp:sp>
    <dsp:sp modelId="{7CCCE6B9-59E5-434A-8357-59A6D9A7C22E}">
      <dsp:nvSpPr>
        <dsp:cNvPr id="0" name=""/>
        <dsp:cNvSpPr/>
      </dsp:nvSpPr>
      <dsp:spPr>
        <a:xfrm>
          <a:off x="5216161" y="756058"/>
          <a:ext cx="2286761" cy="311283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Prepare stronger candidates for Captain and Assistant Chief roles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Build a deeper internal leadership pipeline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Reduce dependence on outside hiring </a:t>
          </a:r>
        </a:p>
      </dsp:txBody>
      <dsp:txXfrm>
        <a:off x="5216161" y="756058"/>
        <a:ext cx="2286761" cy="3112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CD385-E3C2-4071-96E5-986892C4E949}">
      <dsp:nvSpPr>
        <dsp:cNvPr id="0" name=""/>
        <dsp:cNvSpPr/>
      </dsp:nvSpPr>
      <dsp:spPr>
        <a:xfrm>
          <a:off x="2345" y="31551"/>
          <a:ext cx="2286761" cy="37440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Short-Term: 0–1 Year</a:t>
          </a:r>
          <a:endParaRPr lang="en-US" sz="1300" kern="1200"/>
        </a:p>
      </dsp:txBody>
      <dsp:txXfrm>
        <a:off x="2345" y="31551"/>
        <a:ext cx="2286761" cy="374400"/>
      </dsp:txXfrm>
    </dsp:sp>
    <dsp:sp modelId="{57526475-70D2-4A86-A010-9FD2C153C040}">
      <dsp:nvSpPr>
        <dsp:cNvPr id="0" name=""/>
        <dsp:cNvSpPr/>
      </dsp:nvSpPr>
      <dsp:spPr>
        <a:xfrm>
          <a:off x="2345" y="405951"/>
          <a:ext cx="2286761" cy="353281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Confirm current successor assignments based on updated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Identify employees who are closest to being ready for promotion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Use cross-training to support: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recreation roles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administrative support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technical positions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Begin developing backup options for roles that currently have only one successor</a:t>
          </a:r>
        </a:p>
      </dsp:txBody>
      <dsp:txXfrm>
        <a:off x="2345" y="405951"/>
        <a:ext cx="2286761" cy="3532814"/>
      </dsp:txXfrm>
    </dsp:sp>
    <dsp:sp modelId="{0D8EEB89-0A7C-4B42-A234-8375FE9870BF}">
      <dsp:nvSpPr>
        <dsp:cNvPr id="0" name=""/>
        <dsp:cNvSpPr/>
      </dsp:nvSpPr>
      <dsp:spPr>
        <a:xfrm>
          <a:off x="2609253" y="31551"/>
          <a:ext cx="2286761" cy="37440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Mid-Term: 1–3 Years</a:t>
          </a:r>
          <a:endParaRPr lang="en-US" sz="1300" kern="1200"/>
        </a:p>
      </dsp:txBody>
      <dsp:txXfrm>
        <a:off x="2609253" y="31551"/>
        <a:ext cx="2286761" cy="374400"/>
      </dsp:txXfrm>
    </dsp:sp>
    <dsp:sp modelId="{E26E9301-E5B4-436E-84F2-D67DE3F56A66}">
      <dsp:nvSpPr>
        <dsp:cNvPr id="0" name=""/>
        <dsp:cNvSpPr/>
      </dsp:nvSpPr>
      <dsp:spPr>
        <a:xfrm>
          <a:off x="2609253" y="405951"/>
          <a:ext cx="2286761" cy="353281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Strengthen Supervisor and Superintendent roles through: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leadership training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project management experience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budgeting and planning exposure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300" kern="1200"/>
            <a:t>Continue </a:t>
          </a:r>
          <a:r>
            <a:rPr lang="fr-FR" sz="1300" kern="1200" err="1"/>
            <a:t>technical</a:t>
          </a:r>
          <a:r>
            <a:rPr lang="fr-FR" sz="1300" kern="1200"/>
            <a:t> </a:t>
          </a:r>
          <a:r>
            <a:rPr lang="fr-FR" sz="1300" kern="1200" err="1"/>
            <a:t>development</a:t>
          </a:r>
          <a:r>
            <a:rPr lang="fr-FR" sz="1300" kern="1200"/>
            <a:t>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fr-FR" sz="1300" kern="1200"/>
            <a:t>certifications (CPO, CPRP, irrigation, TDA, etc.)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hands-on operational experience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Expand the number of employees who could step into key roles</a:t>
          </a:r>
        </a:p>
      </dsp:txBody>
      <dsp:txXfrm>
        <a:off x="2609253" y="405951"/>
        <a:ext cx="2286761" cy="3532814"/>
      </dsp:txXfrm>
    </dsp:sp>
    <dsp:sp modelId="{CC097C33-01E3-4E9F-8685-103864C04744}">
      <dsp:nvSpPr>
        <dsp:cNvPr id="0" name=""/>
        <dsp:cNvSpPr/>
      </dsp:nvSpPr>
      <dsp:spPr>
        <a:xfrm>
          <a:off x="5216161" y="31551"/>
          <a:ext cx="2286761" cy="37440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Long-Term: 3–5 Years</a:t>
          </a:r>
          <a:endParaRPr lang="en-US" sz="1300" kern="1200"/>
        </a:p>
      </dsp:txBody>
      <dsp:txXfrm>
        <a:off x="5216161" y="31551"/>
        <a:ext cx="2286761" cy="374400"/>
      </dsp:txXfrm>
    </dsp:sp>
    <dsp:sp modelId="{7CCCE6B9-59E5-434A-8357-59A6D9A7C22E}">
      <dsp:nvSpPr>
        <dsp:cNvPr id="0" name=""/>
        <dsp:cNvSpPr/>
      </dsp:nvSpPr>
      <dsp:spPr>
        <a:xfrm>
          <a:off x="5216161" y="405951"/>
          <a:ext cx="2286761" cy="353281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Prepare stronger internal candidates for: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Assistant Director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300" kern="1200"/>
            <a:t>Director roles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Reduce reliance on a single successor for each leadership position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/>
            <a:t> Build more consistent coverage across both operations and recreation</a:t>
          </a:r>
        </a:p>
      </dsp:txBody>
      <dsp:txXfrm>
        <a:off x="5216161" y="405951"/>
        <a:ext cx="2286761" cy="3532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96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1E12-3965-49FE-FEFF-F42541A2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51669-0554-6297-2277-A20371CDC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02054-B162-2BEF-BA4B-B01DC794C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B6680-4643-64EC-5FE1-12CE992C5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52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62FB-CF6A-C39A-C6F5-A8A07F6B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C6E3E-5222-B837-5B7F-B58E907B7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2307A-C15D-4E9C-ACD0-CFFDA00D6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Mrunalinee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1FB4-9566-7CDD-4704-F13A3D92D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39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18A4-7D87-D1FC-C077-9C3CE580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69D62-958D-BF05-07A8-A41382A39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0FA29-37F2-9D9A-ED2B-391576752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E15D-A6DA-4693-5D5A-C02E314B8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76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1FB93-92C4-E728-B5AB-ECE54EDD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14920-A42E-6870-28FD-7D739339F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4C638-DEE4-EB5A-948C-2900AECE2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Mrunalinee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6F834-BFD2-3B42-7236-F762623B9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957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7421-A94B-13B9-4C8D-F6AB3922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5F146-4D8E-2E6F-3573-A008103CC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2AC4F-A77A-8482-3F01-21C416DB9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Mrunalinee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E900-45FB-4B9D-97F8-D88DDA789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812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4C5EB-4A6C-057D-3780-73FDC4D2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D5A0B-2D7F-619F-496B-9BC2E6176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0F51D-39D4-326F-592F-860C51E5B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731E-6711-2FBF-89B1-AE31B3233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75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149A-C4F7-B399-DF2A-3F23C723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00A31-1F70-F89E-441C-94C7D41D4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54DC7-E919-F539-F659-B4BD04BCE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8FCBF-8C4C-7BC6-4880-899A05C3C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733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CF38-A606-4311-629C-D51BB3AB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F70D9-7C08-4D1D-2E9B-A4B40FB2B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1CC4-098D-3B8B-7DB5-EF7B93EF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2A8D4-E3FA-35F3-39D2-14095B225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852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5455-0635-A1E6-8D01-0A585D96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86D56-0CC3-022D-0FDF-F05E18386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DC59C-4D00-06F2-4B14-1E17166AC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B225-1AE0-7068-D7BF-5E4BADA16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502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5F78-0AB0-0D9F-6686-C7986BAB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0C63A-309A-C9B7-9BE7-7CDD30E89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F6779-9B92-50B0-B880-4570CCC87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8505F-6B45-5BC9-0401-92C04D4E5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361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FB47-5F41-47F1-5276-734C643A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817EE-96A8-8BFC-3EFF-7A52CE371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6EC74-8183-B0DF-567A-3C29668A0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4469F-9443-E17F-1E91-A45757495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496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EE0F-219B-B8CC-40ED-510D833F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2798F-3A19-6406-DB16-B5EF7E6BB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09DB5-7A63-4FC9-2910-EDB358191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F1AD0-AFD3-498F-7376-EB2E8A0BC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137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6630-C918-D3BF-2000-4C9D137F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9EB94-3250-FF62-1F2E-4F5A79212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07221-F10A-4B73-9C7D-25CD8954D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Mrunalinee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4288A-EB04-B8FD-06F9-54E5CF1AF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23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1DE7-5F85-955E-A656-41BB78A6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898CF-CF33-6464-4B94-B58F284D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9E2C3-CBBC-0542-EEB4-1C7223EE2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AA25B-76F2-FA95-523E-121E57A238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53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CEBE0-CCEA-01E3-C171-2D28DA60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1355B-0C01-73FC-4046-7CC616DED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BD0D6-C8AF-760F-F8C1-12A7B17AD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88274-D45C-197F-FA3C-F27DAF9A2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29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853F7-427A-4C42-BD71-56447A67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C2B5C-DA5D-0E81-DF3D-E11BF8D03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488DE-E0AF-2EA2-3DE3-BEA0A9AA9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0E8D-79F7-18D7-9E37-24F3F047C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100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D45D-5600-615C-8296-72665B87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56937-BEA3-44EB-B710-C065A0B17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A8D09-FCD8-02E2-4FD9-88A1E3A08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27078-DE97-F896-7697-1D8EF0472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531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B75E-1071-092F-636F-661EECDF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95F46-3750-DA12-1DD7-CF85F20C7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7113A-46FF-F320-FBB9-6DE1E029E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Kishan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A0F11-A3E5-E8CB-9E17-7BC7E8E321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2347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2E03-C500-AB84-A039-972B0C30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B5AAE-907F-6C6E-13DA-106A9AD52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35F10-3099-E210-3F75-1D65A2C03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Mrunalinee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48227-A15E-9B21-FB9C-D69D3ED17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8658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0092-C7C5-6BE3-1AFA-BB62DF68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77149-2A3C-A349-60A7-A00FD2A33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065B9-7A2A-D02C-0099-F7EE52553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A7350-5C7C-D388-C116-1D0F510A9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83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C583-1603-AF10-3752-8E436348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A0ED8-7DEB-EBA8-8B1D-23A0519DB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B8CB5-DE5A-888D-A5E0-7878A3E53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FA685-7C20-AD77-54FC-6C49E49C1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1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9684-D64E-F011-9C58-10F68544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9FDFD-574B-CB81-5FAB-0639F9BF8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191E8-59DE-DF00-70E1-EAE9838AA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Mrunalinee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F9077-C778-CDA3-E803-008926CE5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3221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89FC-60CB-A3A4-96C4-BC02D7D1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37BF5-9636-F906-FF99-F8D4A5B30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5B82C-E13E-9AA5-A5A0-5115F9C1C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60AEB-3F3E-6D7E-8A2E-D0EFC5BE1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97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0.jpe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11" Type="http://schemas.openxmlformats.org/officeDocument/2006/relationships/image" Target="../media/image23.png"/><Relationship Id="rId5" Type="http://schemas.openxmlformats.org/officeDocument/2006/relationships/image" Target="../media/image22.jpeg"/><Relationship Id="rId10" Type="http://schemas.microsoft.com/office/2007/relationships/diagramDrawing" Target="../diagrams/drawing2.xml"/><Relationship Id="rId4" Type="http://schemas.openxmlformats.org/officeDocument/2006/relationships/image" Target="../media/image21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ighlandvillage.org/149/Parks" TargetMode="External"/><Relationship Id="rId5" Type="http://schemas.openxmlformats.org/officeDocument/2006/relationships/hyperlink" Target="https://www.highlandvillage.org/817/Fire-Department-Incident-Stats" TargetMode="External"/><Relationship Id="rId4" Type="http://schemas.openxmlformats.org/officeDocument/2006/relationships/hyperlink" Target="https://www.census.gov/quickfacts/fact/table/highlandvillagecitytexas/LND11021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hyperlink" Target="https://www.highlandvillage.org/ArchiveCenter/ViewFile/Item/457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ensus.gov/quickfacts/fact/table/dentoncitytexas/LND110210" TargetMode="External"/><Relationship Id="rId5" Type="http://schemas.openxmlformats.org/officeDocument/2006/relationships/hyperlink" Target="https://www.census.gov/quickfacts/fact/table/lewisvillecitytexas/PST045224" TargetMode="External"/><Relationship Id="rId4" Type="http://schemas.openxmlformats.org/officeDocument/2006/relationships/hyperlink" Target="https://www.census.gov/quickfacts/fact/table/highlandvillagecitytexas/LND11021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ighlandvillage.org/814/Fire-and-EMS-Operations" TargetMode="External"/><Relationship Id="rId5" Type="http://schemas.openxmlformats.org/officeDocument/2006/relationships/hyperlink" Target="https://www.census.gov/quickfacts/fact/table/highlandvillagecitytexas/LND110210" TargetMode="External"/><Relationship Id="rId4" Type="http://schemas.openxmlformats.org/officeDocument/2006/relationships/hyperlink" Target="https://www.highlandvillage.org/817/Fire-Department-Incident-Stats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unityimpact.com/dallas-fort-worth/lewisville-flower-mound-highland-village/public-safety/2021/10/13/review-recommends-more-firefighters-in-highland-village-where-iso-rating-to-drop-one-level/" TargetMode="External"/><Relationship Id="rId3" Type="http://schemas.openxmlformats.org/officeDocument/2006/relationships/image" Target="../media/image26.jpg"/><Relationship Id="rId7" Type="http://schemas.openxmlformats.org/officeDocument/2006/relationships/hyperlink" Target="https://www.bls.gov/ooh/healthcare/emts-and-paramedics.ht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ls.gov/ooh/protective-service/firefighters.htm" TargetMode="External"/><Relationship Id="rId5" Type="http://schemas.openxmlformats.org/officeDocument/2006/relationships/hyperlink" Target="https://www.highlandvillage.org/814/Fire-and-EMS-Operations" TargetMode="External"/><Relationship Id="rId4" Type="http://schemas.openxmlformats.org/officeDocument/2006/relationships/hyperlink" Target="https://www.highlandvillage.org/820/Recruitmen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hyperlink" Target="https://www.highlandvillage.org/ArchiveCenter/ViewFile/Item/457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ighlandvillage.org/Archive.aspx?ADID=4561" TargetMode="External"/><Relationship Id="rId5" Type="http://schemas.openxmlformats.org/officeDocument/2006/relationships/hyperlink" Target="https://www.highlandvillage.org/facilities/Facility/Details/1" TargetMode="External"/><Relationship Id="rId4" Type="http://schemas.openxmlformats.org/officeDocument/2006/relationships/hyperlink" Target="https://www.highlandvillage.org/149/Park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ighlandvillage.org/Archive.aspx?ADID=4215" TargetMode="External"/><Relationship Id="rId5" Type="http://schemas.openxmlformats.org/officeDocument/2006/relationships/hyperlink" Target="https://www.highlandvillage.org/ArchiveCenter/ViewFile/Item/4571" TargetMode="External"/><Relationship Id="rId4" Type="http://schemas.openxmlformats.org/officeDocument/2006/relationships/hyperlink" Target="https://www.highlandvillage.org/Archive.aspx?ADID=456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E009-73EA-D026-EF00-01F1B6C2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EA66D016-D79B-46A5-B5AF-C8D18A3F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6A247CE-AA2C-B664-515A-F8B1E5C7759E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1722">
              <a:alpha val="6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197E4C3-A115-EF3D-E5A4-6D1BEF40A358}"/>
              </a:ext>
            </a:extLst>
          </p:cNvPr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722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1496346-B862-CAEC-7241-2345E342518C}"/>
              </a:ext>
            </a:extLst>
          </p:cNvPr>
          <p:cNvSpPr/>
          <p:nvPr/>
        </p:nvSpPr>
        <p:spPr>
          <a:xfrm>
            <a:off x="520448" y="574030"/>
            <a:ext cx="11150797" cy="113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of Highland Village </a:t>
            </a:r>
          </a:p>
          <a:p>
            <a:pPr algn="ctr"/>
            <a:r>
              <a:rPr lang="en-US" sz="3600" b="1">
                <a:solidFill>
                  <a:schemeClr val="bg1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Succession Planning Project 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83EACA8-B83D-4041-7BCA-A4B60CA87DAD}"/>
              </a:ext>
            </a:extLst>
          </p:cNvPr>
          <p:cNvSpPr/>
          <p:nvPr/>
        </p:nvSpPr>
        <p:spPr>
          <a:xfrm>
            <a:off x="884432" y="5445030"/>
            <a:ext cx="1042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>
                <a:solidFill>
                  <a:schemeClr val="bg1"/>
                </a:solidFill>
              </a:rPr>
              <a:t>Presented By: J.K.M Consulting</a:t>
            </a:r>
          </a:p>
          <a:p>
            <a:pPr marL="0" indent="0" algn="ctr">
              <a:buNone/>
            </a:pPr>
            <a:r>
              <a:rPr lang="en-US" sz="2700">
                <a:solidFill>
                  <a:schemeClr val="bg1"/>
                </a:solidFill>
              </a:rPr>
              <a:t>Jacqueline Beltran, Kishan </a:t>
            </a:r>
            <a:r>
              <a:rPr lang="en-US" sz="2700" err="1">
                <a:solidFill>
                  <a:schemeClr val="bg1"/>
                </a:solidFill>
              </a:rPr>
              <a:t>Belakkal</a:t>
            </a:r>
            <a:r>
              <a:rPr lang="en-US" sz="2700">
                <a:solidFill>
                  <a:schemeClr val="bg1"/>
                </a:solidFill>
              </a:rPr>
              <a:t>, and </a:t>
            </a:r>
            <a:r>
              <a:rPr lang="en-US" sz="2700" err="1">
                <a:solidFill>
                  <a:schemeClr val="bg1"/>
                </a:solidFill>
              </a:rPr>
              <a:t>Mrunalinee</a:t>
            </a:r>
            <a:r>
              <a:rPr lang="en-US" sz="2700">
                <a:solidFill>
                  <a:schemeClr val="bg1"/>
                </a:solidFill>
              </a:rPr>
              <a:t> Desai</a:t>
            </a:r>
          </a:p>
        </p:txBody>
      </p:sp>
    </p:spTree>
    <p:extLst>
      <p:ext uri="{BB962C8B-B14F-4D97-AF65-F5344CB8AC3E}">
        <p14:creationId xmlns:p14="http://schemas.microsoft.com/office/powerpoint/2010/main" val="3528744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88B66-6B92-6851-DDC7-B68D563F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1E1790-7F61-775D-FAC9-0C196477A917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DCC0F1-CE25-26C8-AACF-6D0CD4DCD858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88B5BFD-1013-33A0-0056-FA7848969A31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</a:rPr>
              <a:t>Agenda</a:t>
            </a:r>
            <a:endParaRPr lang="en-US" sz="2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92A553-D276-1356-FCC3-0BE91E941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25168"/>
              </p:ext>
            </p:extLst>
          </p:nvPr>
        </p:nvGraphicFramePr>
        <p:xfrm>
          <a:off x="2925339" y="1446646"/>
          <a:ext cx="6341016" cy="4603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E3EABCD-33C9-4744-E561-EF0FBC1BC267}"/>
              </a:ext>
            </a:extLst>
          </p:cNvPr>
          <p:cNvSpPr txBox="1"/>
          <p:nvPr/>
        </p:nvSpPr>
        <p:spPr>
          <a:xfrm>
            <a:off x="3391270" y="5078027"/>
            <a:ext cx="5690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badi" panose="020B0604020104020204" pitchFamily="34" charset="0"/>
              </a:rPr>
              <a:t>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7E163-45E4-A207-5796-5C58951FA7BD}"/>
              </a:ext>
            </a:extLst>
          </p:cNvPr>
          <p:cNvSpPr txBox="1"/>
          <p:nvPr/>
        </p:nvSpPr>
        <p:spPr>
          <a:xfrm>
            <a:off x="3397047" y="5639245"/>
            <a:ext cx="5149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badi" panose="020B0604020104020204" pitchFamily="34" charset="0"/>
              </a:rPr>
              <a:t>Wrap-Up</a:t>
            </a:r>
          </a:p>
        </p:txBody>
      </p:sp>
    </p:spTree>
    <p:extLst>
      <p:ext uri="{BB962C8B-B14F-4D97-AF65-F5344CB8AC3E}">
        <p14:creationId xmlns:p14="http://schemas.microsoft.com/office/powerpoint/2010/main" val="268643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9C6F9-131E-E677-BDBA-3E1952B8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120AA4-1631-5F88-1B63-43105B0535FC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B2289C-277A-9AA8-4A2B-2CB73427329E}"/>
              </a:ext>
            </a:extLst>
          </p:cNvPr>
          <p:cNvSpPr/>
          <p:nvPr/>
        </p:nvSpPr>
        <p:spPr>
          <a:xfrm>
            <a:off x="6553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</a:rPr>
              <a:t>Meet the Team: J.K.M Consultants</a:t>
            </a:r>
            <a:endParaRPr lang="en-US" sz="260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39FB1F8-8F0A-9364-564B-07AE1AB196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29758" b="-2032"/>
          <a:stretch>
            <a:fillRect/>
          </a:stretch>
        </p:blipFill>
        <p:spPr bwMode="auto">
          <a:xfrm>
            <a:off x="8536421" y="1191599"/>
            <a:ext cx="2352990" cy="302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 person standing on a rock with a canyon in the background&#10;&#10;AI-generated content may be incorrect.">
            <a:extLst>
              <a:ext uri="{FF2B5EF4-FFF2-40B4-BE49-F238E27FC236}">
                <a16:creationId xmlns:a16="http://schemas.microsoft.com/office/drawing/2014/main" id="{B9C6C126-7765-F559-8A26-FB057F954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425" y="1191599"/>
            <a:ext cx="2542969" cy="292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0FCC91E-6CB2-A3CE-7147-7FDE6692BF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t="16384" r="9500" b="14395"/>
          <a:stretch>
            <a:fillRect/>
          </a:stretch>
        </p:blipFill>
        <p:spPr bwMode="auto">
          <a:xfrm>
            <a:off x="1578430" y="1216911"/>
            <a:ext cx="2542969" cy="291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0B8D7DE6-1B4C-7D30-A11C-4E43B9E6E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789401"/>
              </p:ext>
            </p:extLst>
          </p:nvPr>
        </p:nvGraphicFramePr>
        <p:xfrm>
          <a:off x="1739454" y="1506139"/>
          <a:ext cx="9690545" cy="4972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EA1E276-9531-A53D-665B-2DDADF3D4B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3270" y="1204254"/>
            <a:ext cx="2205214" cy="29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6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4AFE4-F113-47CE-63A0-35F1038A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C0E6D3-143A-A003-3F36-AD398088EEE4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D90740-BF35-6BAD-5F31-75A547DCC788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208C0-7592-8B95-BBE4-90F2F5075AE4}"/>
              </a:ext>
            </a:extLst>
          </p:cNvPr>
          <p:cNvSpPr txBox="1"/>
          <p:nvPr/>
        </p:nvSpPr>
        <p:spPr>
          <a:xfrm>
            <a:off x="370649" y="1262742"/>
            <a:ext cx="5856513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500" b="0" i="0" u="none" strike="noStrike">
                <a:solidFill>
                  <a:srgbClr val="404040"/>
                </a:solidFill>
                <a:effectLst/>
              </a:rPr>
              <a:t>The City of Highland Village is strengthening succession planning across departments.</a:t>
            </a:r>
            <a:r>
              <a:rPr lang="en-US" sz="2500" b="0" i="0">
                <a:solidFill>
                  <a:srgbClr val="000000"/>
                </a:solidFill>
                <a:effectLst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500" b="0" i="0">
              <a:solidFill>
                <a:srgbClr val="000000"/>
              </a:solidFill>
              <a:effectLst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500" b="0" i="0" u="none" strike="noStrike">
                <a:solidFill>
                  <a:srgbClr val="404040"/>
                </a:solidFill>
                <a:effectLst/>
              </a:rPr>
              <a:t>Initial focus will be on the Fire Department and Parks &amp; Recreation.</a:t>
            </a:r>
            <a:r>
              <a:rPr lang="en-US" sz="2500" b="0" i="0">
                <a:solidFill>
                  <a:srgbClr val="000000"/>
                </a:solidFill>
                <a:effectLst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500" b="0" i="0">
              <a:solidFill>
                <a:srgbClr val="000000"/>
              </a:solidFill>
              <a:effectLst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500" b="0" i="0" u="none" strike="noStrike">
                <a:solidFill>
                  <a:srgbClr val="404040"/>
                </a:solidFill>
                <a:effectLst/>
              </a:rPr>
              <a:t>Goal: Reducing operational risk caused by upcoming retirements and knowledge loss.</a:t>
            </a:r>
            <a:r>
              <a:rPr lang="en-US" sz="2500" b="0" i="0">
                <a:solidFill>
                  <a:srgbClr val="000000"/>
                </a:solidFill>
                <a:effectLst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500" b="0" i="0">
              <a:solidFill>
                <a:srgbClr val="000000"/>
              </a:solidFill>
              <a:effectLst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500" b="0" i="0" u="none" strike="noStrike">
                <a:solidFill>
                  <a:srgbClr val="404040"/>
                </a:solidFill>
                <a:effectLst/>
              </a:rPr>
              <a:t>Emphasis on long-term organizational stability and workforce continuity.</a:t>
            </a:r>
            <a:endParaRPr lang="en-US" sz="2500" b="0" i="0">
              <a:solidFill>
                <a:srgbClr val="000000"/>
              </a:solidFill>
              <a:effectLst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B398447-279E-AD06-662D-72E4020E34F3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</a:rPr>
              <a:t>Project Overview</a:t>
            </a:r>
            <a:endParaRPr lang="en-US" sz="2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0BCE4F-26D8-0911-D59B-01972F50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364" y="1985286"/>
            <a:ext cx="5347861" cy="318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9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EB61B-A34E-6E48-E0DF-D2B71E20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FC1E39-D829-0C1A-A3D8-BCE4413459E4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9DBFC5-C4A4-E999-2882-277D5DB81D5D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DF4DB-8735-4687-A7E5-70E2CD810B1F}"/>
              </a:ext>
            </a:extLst>
          </p:cNvPr>
          <p:cNvSpPr txBox="1"/>
          <p:nvPr/>
        </p:nvSpPr>
        <p:spPr>
          <a:xfrm>
            <a:off x="239486" y="1030748"/>
            <a:ext cx="538895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u="sng" dirty="0"/>
              <a:t>Key Objectives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Conduct research and benchmark succession planning best practices.​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Analyze Fire and Parks &amp; Recreation workforce structure.​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 critical roles and development needs.​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Assess certification, compliance, and specialized role requirements.​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Recommend strategies for knowledge transfer, internal development, and external hiring.​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Align recommendations with city operational needs.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0A5135-A23B-D1F3-1182-0CF2C7EADECC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</a:rPr>
              <a:t>Key Objectives and Resources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A9910-12F9-3E92-B9EC-4F2100B32EB6}"/>
              </a:ext>
            </a:extLst>
          </p:cNvPr>
          <p:cNvSpPr txBox="1"/>
          <p:nvPr/>
        </p:nvSpPr>
        <p:spPr>
          <a:xfrm>
            <a:off x="6303146" y="1030748"/>
            <a:ext cx="564936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Resources</a:t>
            </a:r>
          </a:p>
          <a:p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Organizational charts showing reporting structure. 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Critical role responsibilities by position.​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Required certifications and licenses by role.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Training records (leadership, technical, compliance). 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Performance and promotion eligibility data.​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Known retirements and vacancies expected within 3–5 years. 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External research from the U.S. Census Bureau, U.S. Bureau of Labor Statistics, Highland Village community newsletters, and COHV public archives and financial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66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1722">
              <a:alpha val="6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722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310313" y="803998"/>
            <a:ext cx="6747778" cy="612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Highland Village Succession Planning External Research:</a:t>
            </a:r>
            <a:endParaRPr lang="en-US" sz="270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2374298" y="197338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>
                <a:solidFill>
                  <a:schemeClr val="bg1"/>
                </a:solidFill>
              </a:rPr>
              <a:t>Actual numbers as of 2024-2025 for the Fire Department and Parks &amp; Recreation</a:t>
            </a:r>
          </a:p>
        </p:txBody>
      </p:sp>
      <p:sp>
        <p:nvSpPr>
          <p:cNvPr id="10" name="Text 6"/>
          <p:cNvSpPr/>
          <p:nvPr/>
        </p:nvSpPr>
        <p:spPr>
          <a:xfrm>
            <a:off x="2374298" y="270490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>
                <a:solidFill>
                  <a:srgbClr val="F3F5F7"/>
                </a:solidFill>
              </a:rPr>
              <a:t>Fire is prioritized because the service model is smaller, more certification-heavy, and more sensitive to single-position gaps.</a:t>
            </a:r>
            <a:endParaRPr lang="en-US" sz="1550"/>
          </a:p>
        </p:txBody>
      </p:sp>
      <p:sp>
        <p:nvSpPr>
          <p:cNvPr id="11" name="Shape 7"/>
          <p:cNvSpPr/>
          <p:nvPr/>
        </p:nvSpPr>
        <p:spPr>
          <a:xfrm>
            <a:off x="2410874" y="5175504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1D4166"/>
          </a:solidFill>
          <a:ln w="12700">
            <a:solidFill>
              <a:srgbClr val="2C5E9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2502314" y="5358384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chemeClr val="bg1"/>
                </a:solidFill>
              </a:rPr>
              <a:t>Population (2024)</a:t>
            </a:r>
            <a:endParaRPr lang="en-US" sz="102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2502314" y="554126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16,137</a:t>
            </a:r>
            <a:endParaRPr lang="en-US" sz="2200"/>
          </a:p>
        </p:txBody>
      </p:sp>
      <p:sp>
        <p:nvSpPr>
          <p:cNvPr id="14" name="Text 10"/>
          <p:cNvSpPr/>
          <p:nvPr/>
        </p:nvSpPr>
        <p:spPr>
          <a:xfrm>
            <a:off x="2502314" y="5888736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</a:rPr>
              <a:t>Highland Village residents</a:t>
            </a:r>
          </a:p>
        </p:txBody>
      </p:sp>
      <p:sp>
        <p:nvSpPr>
          <p:cNvPr id="15" name="Text 11"/>
          <p:cNvSpPr/>
          <p:nvPr/>
        </p:nvSpPr>
        <p:spPr>
          <a:xfrm>
            <a:off x="2502314" y="635508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D3E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2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20"/>
          </a:p>
        </p:txBody>
      </p:sp>
      <p:sp>
        <p:nvSpPr>
          <p:cNvPr id="16" name="Shape 12"/>
          <p:cNvSpPr/>
          <p:nvPr/>
        </p:nvSpPr>
        <p:spPr>
          <a:xfrm>
            <a:off x="4504850" y="517602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A63C2C"/>
          </a:solidFill>
          <a:ln w="12700">
            <a:solidFill>
              <a:srgbClr val="C9483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32866" y="5358384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chemeClr val="bg1"/>
                </a:solidFill>
              </a:rPr>
              <a:t>Fire calls (2024)</a:t>
            </a:r>
            <a:endParaRPr lang="en-US" sz="1020">
              <a:solidFill>
                <a:schemeClr val="bg1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32866" y="554126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1,753</a:t>
            </a:r>
            <a:endParaRPr lang="en-US" sz="2200"/>
          </a:p>
        </p:txBody>
      </p:sp>
      <p:sp>
        <p:nvSpPr>
          <p:cNvPr id="19" name="Text 15"/>
          <p:cNvSpPr/>
          <p:nvPr/>
        </p:nvSpPr>
        <p:spPr>
          <a:xfrm>
            <a:off x="4632866" y="5888736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</a:rPr>
              <a:t>Official annual incident volume</a:t>
            </a:r>
          </a:p>
        </p:txBody>
      </p:sp>
      <p:sp>
        <p:nvSpPr>
          <p:cNvPr id="20" name="Text 16"/>
          <p:cNvSpPr/>
          <p:nvPr/>
        </p:nvSpPr>
        <p:spPr>
          <a:xfrm>
            <a:off x="4632866" y="635508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F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2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highlandvillage.org/817/Fir…</a:t>
            </a:r>
            <a:endParaRPr lang="en-US" sz="820"/>
          </a:p>
        </p:txBody>
      </p:sp>
      <p:sp>
        <p:nvSpPr>
          <p:cNvPr id="21" name="Shape 17"/>
          <p:cNvSpPr/>
          <p:nvPr/>
        </p:nvSpPr>
        <p:spPr>
          <a:xfrm>
            <a:off x="6635402" y="517602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386A44"/>
          </a:solidFill>
          <a:ln w="12700">
            <a:solidFill>
              <a:srgbClr val="4C8B5B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63418" y="5358384"/>
            <a:ext cx="1755648" cy="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chemeClr val="bg1"/>
                </a:solidFill>
              </a:rPr>
              <a:t>Parks footprint</a:t>
            </a:r>
            <a:endParaRPr lang="en-US" sz="1020">
              <a:solidFill>
                <a:schemeClr val="bg1"/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6763418" y="554126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335+</a:t>
            </a:r>
            <a:endParaRPr lang="en-US" sz="2200"/>
          </a:p>
        </p:txBody>
      </p:sp>
      <p:sp>
        <p:nvSpPr>
          <p:cNvPr id="24" name="Text 20"/>
          <p:cNvSpPr/>
          <p:nvPr/>
        </p:nvSpPr>
        <p:spPr>
          <a:xfrm>
            <a:off x="6763418" y="588873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</a:rPr>
              <a:t>Acres of parkland maintained</a:t>
            </a:r>
          </a:p>
        </p:txBody>
      </p:sp>
      <p:sp>
        <p:nvSpPr>
          <p:cNvPr id="25" name="Text 21"/>
          <p:cNvSpPr/>
          <p:nvPr/>
        </p:nvSpPr>
        <p:spPr>
          <a:xfrm>
            <a:off x="6763418" y="635508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E0F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2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highlandvillage.org/149/Par…</a:t>
            </a:r>
            <a:endParaRPr lang="en-US" sz="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Local context: small city, small internal bench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15320" y="697121"/>
            <a:ext cx="1657024" cy="235567"/>
          </a:xfrm>
          <a:prstGeom prst="roundRect">
            <a:avLst>
              <a:gd name="adj" fmla="val 18519"/>
            </a:avLst>
          </a:prstGeom>
          <a:solidFill>
            <a:srgbClr val="2C5E92">
              <a:alpha val="90000"/>
            </a:srgbClr>
          </a:solidFill>
          <a:ln w="12700">
            <a:solidFill>
              <a:srgbClr val="2C5E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3913" y="640080"/>
            <a:ext cx="19050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2"/>
                </a:solidFill>
              </a:rPr>
              <a:t>REGIONAL COMPARISON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15320" y="1050266"/>
            <a:ext cx="11897781" cy="38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Compared with nearby peers, Highland Village has a much smaller population, therefore also having a much smaller employee bench. That makes each departure harder to absorb—especially in leadership roles where experience is concentrated.</a:t>
            </a:r>
            <a:endParaRPr lang="en-US" sz="1600"/>
          </a:p>
        </p:txBody>
      </p:sp>
      <p:graphicFrame>
        <p:nvGraphicFramePr>
          <p:cNvPr id="8" name="Chart 0"/>
          <p:cNvGraphicFramePr/>
          <p:nvPr/>
        </p:nvGraphicFramePr>
        <p:xfrm>
          <a:off x="621792" y="1572768"/>
          <a:ext cx="56692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79729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749808" y="5961888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11" name="Text 8"/>
          <p:cNvSpPr/>
          <p:nvPr/>
        </p:nvSpPr>
        <p:spPr>
          <a:xfrm>
            <a:off x="749808" y="6126480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12" name="Shape 9"/>
          <p:cNvSpPr/>
          <p:nvPr/>
        </p:nvSpPr>
        <p:spPr>
          <a:xfrm>
            <a:off x="6629400" y="1562330"/>
            <a:ext cx="1645920" cy="97970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C5E9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57416" y="1636776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2020→2024 growth</a:t>
            </a:r>
            <a:endParaRPr lang="en-US" sz="1020"/>
          </a:p>
        </p:txBody>
      </p:sp>
      <p:sp>
        <p:nvSpPr>
          <p:cNvPr id="14" name="Text 11"/>
          <p:cNvSpPr/>
          <p:nvPr/>
        </p:nvSpPr>
        <p:spPr>
          <a:xfrm>
            <a:off x="6757416" y="1819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C5E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+1.5%</a:t>
            </a:r>
            <a:endParaRPr lang="en-US" sz="2000"/>
          </a:p>
        </p:txBody>
      </p:sp>
      <p:sp>
        <p:nvSpPr>
          <p:cNvPr id="15" name="Text 12"/>
          <p:cNvSpPr/>
          <p:nvPr/>
        </p:nvSpPr>
        <p:spPr>
          <a:xfrm>
            <a:off x="6757416" y="216712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Highland Village</a:t>
            </a:r>
            <a:endParaRPr lang="en-US" sz="1020"/>
          </a:p>
        </p:txBody>
      </p:sp>
      <p:sp>
        <p:nvSpPr>
          <p:cNvPr id="16" name="Text 13"/>
          <p:cNvSpPr/>
          <p:nvPr/>
        </p:nvSpPr>
        <p:spPr>
          <a:xfrm>
            <a:off x="6720840" y="268255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17" name="Shape 14"/>
          <p:cNvSpPr/>
          <p:nvPr/>
        </p:nvSpPr>
        <p:spPr>
          <a:xfrm>
            <a:off x="8394192" y="1562330"/>
            <a:ext cx="1645920" cy="97970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C8C87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22208" y="1636776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2020→2024 growth</a:t>
            </a:r>
            <a:endParaRPr lang="en-US" sz="1020"/>
          </a:p>
        </p:txBody>
      </p:sp>
      <p:sp>
        <p:nvSpPr>
          <p:cNvPr id="19" name="Text 16"/>
          <p:cNvSpPr/>
          <p:nvPr/>
        </p:nvSpPr>
        <p:spPr>
          <a:xfrm>
            <a:off x="8522208" y="1819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C8C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+8.2%</a:t>
            </a:r>
            <a:endParaRPr lang="en-US" sz="2000"/>
          </a:p>
        </p:txBody>
      </p:sp>
      <p:sp>
        <p:nvSpPr>
          <p:cNvPr id="20" name="Text 17"/>
          <p:cNvSpPr/>
          <p:nvPr/>
        </p:nvSpPr>
        <p:spPr>
          <a:xfrm>
            <a:off x="8522208" y="216712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Lewisville</a:t>
            </a:r>
            <a:endParaRPr lang="en-US" sz="1020"/>
          </a:p>
        </p:txBody>
      </p:sp>
      <p:sp>
        <p:nvSpPr>
          <p:cNvPr id="21" name="Text 18"/>
          <p:cNvSpPr/>
          <p:nvPr/>
        </p:nvSpPr>
        <p:spPr>
          <a:xfrm>
            <a:off x="8522208" y="265633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22" name="Shape 19"/>
          <p:cNvSpPr/>
          <p:nvPr/>
        </p:nvSpPr>
        <p:spPr>
          <a:xfrm>
            <a:off x="10158984" y="1562330"/>
            <a:ext cx="1508760" cy="97970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483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287000" y="1636776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2020→2024 growth</a:t>
            </a:r>
            <a:endParaRPr lang="en-US" sz="1020"/>
          </a:p>
        </p:txBody>
      </p:sp>
      <p:sp>
        <p:nvSpPr>
          <p:cNvPr id="24" name="Text 21"/>
          <p:cNvSpPr/>
          <p:nvPr/>
        </p:nvSpPr>
        <p:spPr>
          <a:xfrm>
            <a:off x="10287000" y="1819656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C94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+18.7%</a:t>
            </a:r>
            <a:endParaRPr lang="en-US" sz="1900"/>
          </a:p>
        </p:txBody>
      </p:sp>
      <p:sp>
        <p:nvSpPr>
          <p:cNvPr id="25" name="Text 22"/>
          <p:cNvSpPr/>
          <p:nvPr/>
        </p:nvSpPr>
        <p:spPr>
          <a:xfrm>
            <a:off x="10287000" y="216712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22E"/>
                </a:solidFill>
              </a:rPr>
              <a:t>Denton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10277856" y="26563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27" name="Shape 24"/>
          <p:cNvSpPr/>
          <p:nvPr/>
        </p:nvSpPr>
        <p:spPr>
          <a:xfrm>
            <a:off x="6629400" y="2971800"/>
            <a:ext cx="5300932" cy="295351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793992" y="3127248"/>
            <a:ext cx="2121408" cy="291314"/>
          </a:xfrm>
          <a:prstGeom prst="roundRect">
            <a:avLst>
              <a:gd name="adj" fmla="val 18519"/>
            </a:avLst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67144" y="3163824"/>
            <a:ext cx="2048256" cy="1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chemeClr val="bg2"/>
                </a:solidFill>
              </a:rPr>
              <a:t>HIGHLAND VILLAGE CONSTRAINTS</a:t>
            </a:r>
            <a:endParaRPr lang="en-US" sz="900">
              <a:solidFill>
                <a:schemeClr val="bg2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6812280" y="3493008"/>
            <a:ext cx="3346704" cy="291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97706"/>
                </a:solidFill>
              </a:rPr>
              <a:t>16.8% of residents are 65+</a:t>
            </a:r>
            <a:endParaRPr lang="en-US" sz="2000"/>
          </a:p>
        </p:txBody>
      </p:sp>
      <p:sp>
        <p:nvSpPr>
          <p:cNvPr id="31" name="Text 28"/>
          <p:cNvSpPr/>
          <p:nvPr/>
        </p:nvSpPr>
        <p:spPr>
          <a:xfrm>
            <a:off x="6757416" y="3913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22E"/>
                </a:solidFill>
              </a:rPr>
              <a:t>Aging residents can mean sustained demand for EMS, accessibility, and park maintenance responsiveness.</a:t>
            </a:r>
            <a:endParaRPr lang="en-US" sz="1350"/>
          </a:p>
        </p:txBody>
      </p:sp>
      <p:sp>
        <p:nvSpPr>
          <p:cNvPr id="32" name="Text 29"/>
          <p:cNvSpPr/>
          <p:nvPr/>
        </p:nvSpPr>
        <p:spPr>
          <a:xfrm>
            <a:off x="6812280" y="431467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33" name="Text 30"/>
          <p:cNvSpPr/>
          <p:nvPr/>
        </p:nvSpPr>
        <p:spPr>
          <a:xfrm>
            <a:off x="6812280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7324D"/>
                </a:solidFill>
              </a:rPr>
              <a:t>≈96% built out; ~200 homes remain; full build-out projected by 2030</a:t>
            </a:r>
            <a:endParaRPr lang="en-US" sz="1800"/>
          </a:p>
        </p:txBody>
      </p:sp>
      <p:sp>
        <p:nvSpPr>
          <p:cNvPr id="34" name="Text 31"/>
          <p:cNvSpPr/>
          <p:nvPr/>
        </p:nvSpPr>
        <p:spPr>
          <a:xfrm>
            <a:off x="6757416" y="5138151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22E"/>
                </a:solidFill>
              </a:rPr>
              <a:t>That matters for succession planning: Highland Village cannot count on major population growth alone to create a deeper internal talent pool or a sharply larger tax base.</a:t>
            </a:r>
            <a:endParaRPr lang="en-US" sz="1350"/>
          </a:p>
        </p:txBody>
      </p:sp>
      <p:sp>
        <p:nvSpPr>
          <p:cNvPr id="35" name="Text 32"/>
          <p:cNvSpPr/>
          <p:nvPr/>
        </p:nvSpPr>
        <p:spPr>
          <a:xfrm>
            <a:off x="6757416" y="567842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661BE-ECA0-F57D-1CF2-56BC8F510968}"/>
              </a:ext>
            </a:extLst>
          </p:cNvPr>
          <p:cNvSpPr txBox="1"/>
          <p:nvPr/>
        </p:nvSpPr>
        <p:spPr>
          <a:xfrm rot="16200000">
            <a:off x="-604224" y="3618021"/>
            <a:ext cx="1953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accent1">
                    <a:lumMod val="75000"/>
                  </a:schemeClr>
                </a:solidFill>
              </a:rPr>
              <a:t>Population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14274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Fire Department: demand is rising inside a compact service model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30352" y="804672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C94832">
              <a:alpha val="90000"/>
            </a:srgbClr>
          </a:solidFill>
          <a:ln w="12700">
            <a:solidFill>
              <a:srgbClr val="C948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841248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chemeClr val="bg2"/>
                </a:solidFill>
              </a:rPr>
              <a:t>DEMAND TREND</a:t>
            </a:r>
            <a:endParaRPr lang="en-US" sz="90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Official incident volume dipped in 2023, then rose to a new three-year high in 2024. For a one-station department, even modest call growth matters because overlapping incidents hit staffing quickly.</a:t>
            </a:r>
            <a:endParaRPr lang="en-US" sz="1600"/>
          </a:p>
        </p:txBody>
      </p:sp>
      <p:graphicFrame>
        <p:nvGraphicFramePr>
          <p:cNvPr id="8" name="Chart 0"/>
          <p:cNvGraphicFramePr/>
          <p:nvPr/>
        </p:nvGraphicFramePr>
        <p:xfrm>
          <a:off x="658368" y="1600200"/>
          <a:ext cx="54864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68096" y="557784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highlandvillage.org/817/Fir…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768096" y="575157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for rate: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census.gov/quickfacts/fact/…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6473952" y="1627632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483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01968" y="172821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2023→2024</a:t>
            </a:r>
            <a:endParaRPr lang="en-US" sz="1020"/>
          </a:p>
        </p:txBody>
      </p:sp>
      <p:sp>
        <p:nvSpPr>
          <p:cNvPr id="13" name="Text 10"/>
          <p:cNvSpPr/>
          <p:nvPr/>
        </p:nvSpPr>
        <p:spPr>
          <a:xfrm>
            <a:off x="6601968" y="1911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94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+8.1%</a:t>
            </a:r>
            <a:endParaRPr lang="en-US" sz="2000"/>
          </a:p>
        </p:txBody>
      </p:sp>
      <p:sp>
        <p:nvSpPr>
          <p:cNvPr id="14" name="Text 11"/>
          <p:cNvSpPr/>
          <p:nvPr/>
        </p:nvSpPr>
        <p:spPr>
          <a:xfrm>
            <a:off x="6601968" y="2258568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increase in annual calls</a:t>
            </a:r>
            <a:endParaRPr lang="en-US" sz="1020"/>
          </a:p>
        </p:txBody>
      </p:sp>
      <p:sp>
        <p:nvSpPr>
          <p:cNvPr id="15" name="Text 12"/>
          <p:cNvSpPr/>
          <p:nvPr/>
        </p:nvSpPr>
        <p:spPr>
          <a:xfrm>
            <a:off x="6601968" y="2836107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 from: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highlandvillage.org/817/Fir…</a:t>
            </a:r>
            <a:endParaRPr lang="en-US" sz="850"/>
          </a:p>
        </p:txBody>
      </p:sp>
      <p:sp>
        <p:nvSpPr>
          <p:cNvPr id="16" name="Shape 13"/>
          <p:cNvSpPr/>
          <p:nvPr/>
        </p:nvSpPr>
        <p:spPr>
          <a:xfrm>
            <a:off x="8211312" y="16276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7324D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39328" y="1728216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2024 call rate</a:t>
            </a:r>
            <a:endParaRPr lang="en-US" sz="1020"/>
          </a:p>
        </p:txBody>
      </p:sp>
      <p:sp>
        <p:nvSpPr>
          <p:cNvPr id="18" name="Text 15"/>
          <p:cNvSpPr/>
          <p:nvPr/>
        </p:nvSpPr>
        <p:spPr>
          <a:xfrm>
            <a:off x="8339328" y="191109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108.6</a:t>
            </a:r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8339328" y="2258568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22E"/>
                </a:solidFill>
              </a:rPr>
              <a:t>incidents per 1,000 residents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8558783" y="2836107"/>
            <a:ext cx="11804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 from: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highlandvillage.org/817/Fir…</a:t>
            </a:r>
            <a:endParaRPr lang="en-US" sz="850"/>
          </a:p>
        </p:txBody>
      </p:sp>
      <p:sp>
        <p:nvSpPr>
          <p:cNvPr id="21" name="Shape 18"/>
          <p:cNvSpPr/>
          <p:nvPr/>
        </p:nvSpPr>
        <p:spPr>
          <a:xfrm>
            <a:off x="10058400" y="1627632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7706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186416" y="172821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Daily average</a:t>
            </a:r>
            <a:endParaRPr lang="en-US" sz="1020"/>
          </a:p>
        </p:txBody>
      </p:sp>
      <p:sp>
        <p:nvSpPr>
          <p:cNvPr id="23" name="Text 20"/>
          <p:cNvSpPr/>
          <p:nvPr/>
        </p:nvSpPr>
        <p:spPr>
          <a:xfrm>
            <a:off x="10186416" y="1911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4.8</a:t>
            </a:r>
            <a:endParaRPr lang="en-US" sz="2000"/>
          </a:p>
        </p:txBody>
      </p:sp>
      <p:sp>
        <p:nvSpPr>
          <p:cNvPr id="24" name="Text 21"/>
          <p:cNvSpPr/>
          <p:nvPr/>
        </p:nvSpPr>
        <p:spPr>
          <a:xfrm>
            <a:off x="10186416" y="2258568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calls per day in 2024</a:t>
            </a:r>
            <a:endParaRPr lang="en-US" sz="1020"/>
          </a:p>
        </p:txBody>
      </p:sp>
      <p:sp>
        <p:nvSpPr>
          <p:cNvPr id="25" name="Text 22"/>
          <p:cNvSpPr/>
          <p:nvPr/>
        </p:nvSpPr>
        <p:spPr>
          <a:xfrm>
            <a:off x="10277856" y="285292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 from: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highlandvillage.org/817/Fir…</a:t>
            </a:r>
            <a:endParaRPr lang="en-US" sz="850"/>
          </a:p>
        </p:txBody>
      </p:sp>
      <p:sp>
        <p:nvSpPr>
          <p:cNvPr id="26" name="Shape 23"/>
          <p:cNvSpPr/>
          <p:nvPr/>
        </p:nvSpPr>
        <p:spPr>
          <a:xfrm>
            <a:off x="6473951" y="3127248"/>
            <a:ext cx="5551271" cy="2937122"/>
          </a:xfrm>
          <a:prstGeom prst="roundRect">
            <a:avLst>
              <a:gd name="adj" fmla="val 307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E5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638544" y="3273552"/>
            <a:ext cx="1783080" cy="246888"/>
          </a:xfrm>
          <a:prstGeom prst="roundRect">
            <a:avLst>
              <a:gd name="adj" fmla="val 18519"/>
            </a:avLst>
          </a:prstGeom>
          <a:solidFill>
            <a:srgbClr val="C94832">
              <a:alpha val="90000"/>
            </a:srgbClr>
          </a:solidFill>
          <a:ln w="12700">
            <a:solidFill>
              <a:srgbClr val="C948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711696" y="3310128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chemeClr val="bg2"/>
                </a:solidFill>
              </a:rPr>
              <a:t>CURRENT OPERATING MODEL</a:t>
            </a:r>
            <a:endParaRPr lang="en-US" sz="900">
              <a:solidFill>
                <a:schemeClr val="bg2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6711696" y="3974707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• 3 shifts (A, B, C)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• full staff of 6 per shift; minimum staffing of 5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• frontline + reserve Paramedic Engine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• frontline + reserve MICU Medic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• Type 6 Wildland Engine</a:t>
            </a:r>
            <a:endParaRPr lang="en-US" sz="1600"/>
          </a:p>
        </p:txBody>
      </p:sp>
      <p:sp>
        <p:nvSpPr>
          <p:cNvPr id="30" name="Text 27"/>
          <p:cNvSpPr/>
          <p:nvPr/>
        </p:nvSpPr>
        <p:spPr>
          <a:xfrm>
            <a:off x="9438333" y="3731425"/>
            <a:ext cx="2464113" cy="156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15222E"/>
                </a:solidFill>
              </a:rPr>
              <a:t>EMS model</a:t>
            </a:r>
            <a:endParaRPr lang="en-US" sz="1450"/>
          </a:p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15222E"/>
                </a:solidFill>
              </a:rPr>
              <a:t>MICU staffed by 2 firefighter/paramedics</a:t>
            </a:r>
            <a:endParaRPr lang="en-US" sz="145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15222E"/>
                </a:solidFill>
              </a:rPr>
              <a:t>Paramedic Engine staffed by minimum 3 firefighter/paramedic-certified personnel</a:t>
            </a:r>
            <a:endParaRPr lang="en-US" sz="1450"/>
          </a:p>
        </p:txBody>
      </p:sp>
      <p:sp>
        <p:nvSpPr>
          <p:cNvPr id="31" name="Text 28"/>
          <p:cNvSpPr/>
          <p:nvPr/>
        </p:nvSpPr>
        <p:spPr>
          <a:xfrm>
            <a:off x="6711696" y="579591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highlandvillage.org/814/Fir…</a:t>
            </a:r>
            <a:endParaRPr lang="en-US" sz="8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9A20B-71CC-D3F8-00C7-639B0C56C95D}"/>
              </a:ext>
            </a:extLst>
          </p:cNvPr>
          <p:cNvSpPr txBox="1"/>
          <p:nvPr/>
        </p:nvSpPr>
        <p:spPr>
          <a:xfrm rot="16200000">
            <a:off x="-1092822" y="3351163"/>
            <a:ext cx="2852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C00000"/>
                </a:solidFill>
              </a:rPr>
              <a:t>Annual Call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137160"/>
            <a:ext cx="116171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Fire Succession Risk: certifications, training time, and thin backup capacity</a:t>
            </a:r>
            <a:endParaRPr lang="en-US" sz="2600"/>
          </a:p>
        </p:txBody>
      </p:sp>
      <p:pic>
        <p:nvPicPr>
          <p:cNvPr id="5" name="Image 0" descr="/mnt/data/hv_deck/assets/fire_truck.jpg"/>
          <p:cNvPicPr>
            <a:picLocks noChangeAspect="1"/>
          </p:cNvPicPr>
          <p:nvPr/>
        </p:nvPicPr>
        <p:blipFill>
          <a:blip r:embed="rId3"/>
          <a:srcRect l="19831" r="19831"/>
          <a:stretch/>
        </p:blipFill>
        <p:spPr>
          <a:xfrm>
            <a:off x="530352" y="914400"/>
            <a:ext cx="406908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914400"/>
            <a:ext cx="4069080" cy="5394960"/>
          </a:xfrm>
          <a:prstGeom prst="roundRect">
            <a:avLst>
              <a:gd name="adj" fmla="val 1798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0352" y="4892040"/>
            <a:ext cx="4069080" cy="1417320"/>
          </a:xfrm>
          <a:prstGeom prst="rect">
            <a:avLst/>
          </a:prstGeom>
          <a:solidFill>
            <a:srgbClr val="0E1722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2349" y="5146864"/>
            <a:ext cx="39170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Why the fire bench is harder to build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749808" y="5481224"/>
            <a:ext cx="36944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>
                <a:solidFill>
                  <a:srgbClr val="EEF3F8"/>
                </a:solidFill>
              </a:rPr>
              <a:t>Replacing a leader usually means replacing a dual-certified, shift-ready responder—not just filling a generic vacancy.</a:t>
            </a:r>
            <a:endParaRPr lang="en-US" sz="1380"/>
          </a:p>
        </p:txBody>
      </p:sp>
      <p:sp>
        <p:nvSpPr>
          <p:cNvPr id="11" name="Shape 8"/>
          <p:cNvSpPr/>
          <p:nvPr/>
        </p:nvSpPr>
        <p:spPr>
          <a:xfrm>
            <a:off x="4892040" y="1005840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483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0056" y="1106424"/>
            <a:ext cx="1892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Minimum hire bar</a:t>
            </a:r>
            <a:endParaRPr lang="en-US" sz="1020"/>
          </a:p>
        </p:txBody>
      </p:sp>
      <p:sp>
        <p:nvSpPr>
          <p:cNvPr id="13" name="Text 10"/>
          <p:cNvSpPr/>
          <p:nvPr/>
        </p:nvSpPr>
        <p:spPr>
          <a:xfrm>
            <a:off x="5020056" y="12893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94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 credentials</a:t>
            </a:r>
            <a:endParaRPr lang="en-US" sz="2100"/>
          </a:p>
        </p:txBody>
      </p:sp>
      <p:sp>
        <p:nvSpPr>
          <p:cNvPr id="14" name="Text 11"/>
          <p:cNvSpPr/>
          <p:nvPr/>
        </p:nvSpPr>
        <p:spPr>
          <a:xfrm>
            <a:off x="5020056" y="1636776"/>
            <a:ext cx="189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>
                <a:solidFill>
                  <a:srgbClr val="15222E"/>
                </a:solidFill>
              </a:rPr>
              <a:t>HV requires Paramedic certification plus TCFP commissioned firefighter status.</a:t>
            </a:r>
            <a:endParaRPr lang="en-US" sz="1060"/>
          </a:p>
        </p:txBody>
      </p:sp>
      <p:sp>
        <p:nvSpPr>
          <p:cNvPr id="15" name="Text 12"/>
          <p:cNvSpPr/>
          <p:nvPr/>
        </p:nvSpPr>
        <p:spPr>
          <a:xfrm>
            <a:off x="5020056" y="2578608"/>
            <a:ext cx="2020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highlandvillage.org/820/Rec…</a:t>
            </a:r>
            <a:endParaRPr lang="en-US" sz="850"/>
          </a:p>
        </p:txBody>
      </p:sp>
      <p:sp>
        <p:nvSpPr>
          <p:cNvPr id="16" name="Shape 13"/>
          <p:cNvSpPr/>
          <p:nvPr/>
        </p:nvSpPr>
        <p:spPr>
          <a:xfrm>
            <a:off x="7205472" y="1005840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2C5E9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33488" y="1106424"/>
            <a:ext cx="1892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Internal training load</a:t>
            </a:r>
            <a:endParaRPr lang="en-US" sz="1020"/>
          </a:p>
        </p:txBody>
      </p:sp>
      <p:sp>
        <p:nvSpPr>
          <p:cNvPr id="18" name="Text 15"/>
          <p:cNvSpPr/>
          <p:nvPr/>
        </p:nvSpPr>
        <p:spPr>
          <a:xfrm>
            <a:off x="7333488" y="12893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2C5E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20+ hrs/mo</a:t>
            </a:r>
            <a:endParaRPr lang="en-US" sz="2100"/>
          </a:p>
        </p:txBody>
      </p:sp>
      <p:sp>
        <p:nvSpPr>
          <p:cNvPr id="19" name="Text 16"/>
          <p:cNvSpPr/>
          <p:nvPr/>
        </p:nvSpPr>
        <p:spPr>
          <a:xfrm>
            <a:off x="7333488" y="1636776"/>
            <a:ext cx="189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>
                <a:solidFill>
                  <a:srgbClr val="15222E"/>
                </a:solidFill>
              </a:rPr>
              <a:t>Monthly fire training exceeds the state continuing education minimum cited on the city page.</a:t>
            </a:r>
            <a:endParaRPr lang="en-US" sz="1040"/>
          </a:p>
        </p:txBody>
      </p:sp>
      <p:sp>
        <p:nvSpPr>
          <p:cNvPr id="20" name="Text 17"/>
          <p:cNvSpPr/>
          <p:nvPr/>
        </p:nvSpPr>
        <p:spPr>
          <a:xfrm>
            <a:off x="7333488" y="257860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highlandvillage.org/814/Fir…</a:t>
            </a:r>
            <a:endParaRPr lang="en-US" sz="850"/>
          </a:p>
        </p:txBody>
      </p:sp>
      <p:sp>
        <p:nvSpPr>
          <p:cNvPr id="21" name="Shape 18"/>
          <p:cNvSpPr/>
          <p:nvPr/>
        </p:nvSpPr>
        <p:spPr>
          <a:xfrm>
            <a:off x="9518904" y="1005840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7706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646920" y="1106424"/>
            <a:ext cx="1892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National labor market</a:t>
            </a:r>
            <a:endParaRPr lang="en-US" sz="1020"/>
          </a:p>
        </p:txBody>
      </p:sp>
      <p:sp>
        <p:nvSpPr>
          <p:cNvPr id="23" name="Text 20"/>
          <p:cNvSpPr/>
          <p:nvPr/>
        </p:nvSpPr>
        <p:spPr>
          <a:xfrm>
            <a:off x="9646920" y="12893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27,100</a:t>
            </a:r>
            <a:endParaRPr lang="en-US" sz="2100"/>
          </a:p>
        </p:txBody>
      </p:sp>
      <p:sp>
        <p:nvSpPr>
          <p:cNvPr id="24" name="Text 21"/>
          <p:cNvSpPr/>
          <p:nvPr/>
        </p:nvSpPr>
        <p:spPr>
          <a:xfrm>
            <a:off x="9646920" y="1636776"/>
            <a:ext cx="189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>
                <a:solidFill>
                  <a:srgbClr val="15222E"/>
                </a:solidFill>
              </a:rPr>
              <a:t>average annual firefighter openings projected by BLS, 2024–2034.</a:t>
            </a:r>
            <a:endParaRPr lang="en-US" sz="1040"/>
          </a:p>
        </p:txBody>
      </p:sp>
      <p:sp>
        <p:nvSpPr>
          <p:cNvPr id="25" name="Text 22"/>
          <p:cNvSpPr/>
          <p:nvPr/>
        </p:nvSpPr>
        <p:spPr>
          <a:xfrm>
            <a:off x="9646920" y="2578608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bls.gov/ooh/protective-serv…</a:t>
            </a:r>
            <a:endParaRPr lang="en-US" sz="850"/>
          </a:p>
        </p:txBody>
      </p:sp>
      <p:sp>
        <p:nvSpPr>
          <p:cNvPr id="26" name="Shape 23"/>
          <p:cNvSpPr/>
          <p:nvPr/>
        </p:nvSpPr>
        <p:spPr>
          <a:xfrm>
            <a:off x="4892040" y="2761488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2C8C87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0056" y="2862072"/>
            <a:ext cx="1892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Paramedic market</a:t>
            </a:r>
            <a:endParaRPr lang="en-US" sz="1020"/>
          </a:p>
        </p:txBody>
      </p:sp>
      <p:sp>
        <p:nvSpPr>
          <p:cNvPr id="28" name="Text 25"/>
          <p:cNvSpPr/>
          <p:nvPr/>
        </p:nvSpPr>
        <p:spPr>
          <a:xfrm>
            <a:off x="5020056" y="304495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2C8C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19,000</a:t>
            </a:r>
            <a:endParaRPr lang="en-US" sz="2100"/>
          </a:p>
        </p:txBody>
      </p:sp>
      <p:sp>
        <p:nvSpPr>
          <p:cNvPr id="29" name="Text 26"/>
          <p:cNvSpPr/>
          <p:nvPr/>
        </p:nvSpPr>
        <p:spPr>
          <a:xfrm>
            <a:off x="5020056" y="3392424"/>
            <a:ext cx="189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>
                <a:solidFill>
                  <a:srgbClr val="15222E"/>
                </a:solidFill>
              </a:rPr>
              <a:t>average annual EMT/paramedic openings projected by BLS, 2024–2034.</a:t>
            </a:r>
            <a:endParaRPr lang="en-US" sz="1040"/>
          </a:p>
        </p:txBody>
      </p:sp>
      <p:sp>
        <p:nvSpPr>
          <p:cNvPr id="30" name="Text 27"/>
          <p:cNvSpPr/>
          <p:nvPr/>
        </p:nvSpPr>
        <p:spPr>
          <a:xfrm>
            <a:off x="5020056" y="4315968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bls.gov/ooh/healthcare/emts…</a:t>
            </a:r>
            <a:endParaRPr lang="en-US" sz="850"/>
          </a:p>
        </p:txBody>
      </p:sp>
      <p:sp>
        <p:nvSpPr>
          <p:cNvPr id="31" name="Shape 28"/>
          <p:cNvSpPr/>
          <p:nvPr/>
        </p:nvSpPr>
        <p:spPr>
          <a:xfrm>
            <a:off x="7205472" y="2761488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8E5E1"/>
          </a:solidFill>
          <a:ln w="12700">
            <a:solidFill>
              <a:srgbClr val="C9483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33488" y="2862072"/>
            <a:ext cx="1892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Historic pressure signal</a:t>
            </a:r>
            <a:endParaRPr lang="en-US" sz="1020"/>
          </a:p>
        </p:txBody>
      </p:sp>
      <p:sp>
        <p:nvSpPr>
          <p:cNvPr id="33" name="Text 30"/>
          <p:cNvSpPr/>
          <p:nvPr/>
        </p:nvSpPr>
        <p:spPr>
          <a:xfrm>
            <a:off x="7333488" y="304495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94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+37%</a:t>
            </a:r>
            <a:endParaRPr lang="en-US" sz="2100"/>
          </a:p>
        </p:txBody>
      </p:sp>
      <p:sp>
        <p:nvSpPr>
          <p:cNvPr id="34" name="Text 31"/>
          <p:cNvSpPr/>
          <p:nvPr/>
        </p:nvSpPr>
        <p:spPr>
          <a:xfrm>
            <a:off x="7333488" y="3392424"/>
            <a:ext cx="189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>
                <a:solidFill>
                  <a:srgbClr val="15222E"/>
                </a:solidFill>
              </a:rPr>
              <a:t>increase in overlapping calls cited in a 2021 local review discussion.</a:t>
            </a:r>
            <a:endParaRPr lang="en-US" sz="1040"/>
          </a:p>
        </p:txBody>
      </p:sp>
      <p:sp>
        <p:nvSpPr>
          <p:cNvPr id="35" name="Text 32"/>
          <p:cNvSpPr/>
          <p:nvPr/>
        </p:nvSpPr>
        <p:spPr>
          <a:xfrm>
            <a:off x="7333488" y="431596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communityimpact.com/dallas-…</a:t>
            </a:r>
            <a:endParaRPr lang="en-US" sz="850"/>
          </a:p>
        </p:txBody>
      </p:sp>
      <p:sp>
        <p:nvSpPr>
          <p:cNvPr id="36" name="Shape 33"/>
          <p:cNvSpPr/>
          <p:nvPr/>
        </p:nvSpPr>
        <p:spPr>
          <a:xfrm>
            <a:off x="9518904" y="2761488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17324D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646920" y="2862072"/>
            <a:ext cx="1892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Mutual-aid delay</a:t>
            </a:r>
            <a:endParaRPr lang="en-US" sz="1020"/>
          </a:p>
        </p:txBody>
      </p:sp>
      <p:sp>
        <p:nvSpPr>
          <p:cNvPr id="38" name="Text 35"/>
          <p:cNvSpPr/>
          <p:nvPr/>
        </p:nvSpPr>
        <p:spPr>
          <a:xfrm>
            <a:off x="9646920" y="304495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6-9 min</a:t>
            </a:r>
            <a:endParaRPr lang="en-US" sz="2000"/>
          </a:p>
        </p:txBody>
      </p:sp>
      <p:sp>
        <p:nvSpPr>
          <p:cNvPr id="39" name="Text 36"/>
          <p:cNvSpPr/>
          <p:nvPr/>
        </p:nvSpPr>
        <p:spPr>
          <a:xfrm>
            <a:off x="9646920" y="3392424"/>
            <a:ext cx="189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average added response time cited when aid must come from outside the city.</a:t>
            </a:r>
            <a:endParaRPr lang="en-US" sz="1020"/>
          </a:p>
        </p:txBody>
      </p:sp>
      <p:sp>
        <p:nvSpPr>
          <p:cNvPr id="40" name="Text 37"/>
          <p:cNvSpPr/>
          <p:nvPr/>
        </p:nvSpPr>
        <p:spPr>
          <a:xfrm>
            <a:off x="9646920" y="4315968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communityimpact.com/dallas-…</a:t>
            </a:r>
            <a:endParaRPr lang="en-US" sz="850"/>
          </a:p>
        </p:txBody>
      </p:sp>
      <p:sp>
        <p:nvSpPr>
          <p:cNvPr id="41" name="Shape 38"/>
          <p:cNvSpPr/>
          <p:nvPr/>
        </p:nvSpPr>
        <p:spPr>
          <a:xfrm>
            <a:off x="4892040" y="4498848"/>
            <a:ext cx="7017760" cy="1810512"/>
          </a:xfrm>
          <a:prstGeom prst="roundRect">
            <a:avLst>
              <a:gd name="adj" fmla="val 579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102352" y="4736592"/>
            <a:ext cx="237675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24D"/>
                </a:solidFill>
              </a:rPr>
              <a:t>Succession Implication</a:t>
            </a:r>
            <a:endParaRPr lang="en-US" sz="1400"/>
          </a:p>
        </p:txBody>
      </p:sp>
      <p:sp>
        <p:nvSpPr>
          <p:cNvPr id="43" name="Text 40"/>
          <p:cNvSpPr/>
          <p:nvPr/>
        </p:nvSpPr>
        <p:spPr>
          <a:xfrm>
            <a:off x="5102352" y="5010911"/>
            <a:ext cx="6807448" cy="55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5222E"/>
                </a:solidFill>
              </a:rPr>
              <a:t>Build a two-deep bench early for captain/driver/paramedic roles. In Highland Village, the replacement cycle includes certification, field training, shift integration, and daily readiness—not just hiring.</a:t>
            </a:r>
            <a:endParaRPr lang="en-US" sz="1700"/>
          </a:p>
        </p:txBody>
      </p:sp>
      <p:sp>
        <p:nvSpPr>
          <p:cNvPr id="44" name="Text 41"/>
          <p:cNvSpPr/>
          <p:nvPr/>
        </p:nvSpPr>
        <p:spPr>
          <a:xfrm>
            <a:off x="5230368" y="5896327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highlandvillage.org/820/Rec…</a:t>
            </a:r>
            <a:endParaRPr lang="en-US" sz="850"/>
          </a:p>
        </p:txBody>
      </p:sp>
      <p:sp>
        <p:nvSpPr>
          <p:cNvPr id="45" name="Text 42"/>
          <p:cNvSpPr/>
          <p:nvPr/>
        </p:nvSpPr>
        <p:spPr>
          <a:xfrm>
            <a:off x="6784848" y="5896845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highlandvillage.org/814/Fir…</a:t>
            </a:r>
            <a:endParaRPr lang="en-US" sz="850"/>
          </a:p>
        </p:txBody>
      </p:sp>
      <p:sp>
        <p:nvSpPr>
          <p:cNvPr id="46" name="Text 43"/>
          <p:cNvSpPr/>
          <p:nvPr/>
        </p:nvSpPr>
        <p:spPr>
          <a:xfrm>
            <a:off x="8110728" y="590702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bls.gov/ooh/protective-serv…</a:t>
            </a:r>
            <a:endParaRPr lang="en-US" sz="850"/>
          </a:p>
        </p:txBody>
      </p:sp>
      <p:sp>
        <p:nvSpPr>
          <p:cNvPr id="47" name="Text 44"/>
          <p:cNvSpPr/>
          <p:nvPr/>
        </p:nvSpPr>
        <p:spPr>
          <a:xfrm>
            <a:off x="9724644" y="5896845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bls.gov/ooh/healthcare/emts…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137160"/>
            <a:ext cx="118156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Parks &amp; Recreation: Fewer site-safety stakes, but a wide physical operating span</a:t>
            </a:r>
            <a:endParaRPr lang="en-US" sz="2600"/>
          </a:p>
        </p:txBody>
      </p:sp>
      <p:pic>
        <p:nvPicPr>
          <p:cNvPr id="5" name="Image 0" descr="/mnt/data/hv_deck/assets/doubletree_park.jpg"/>
          <p:cNvPicPr>
            <a:picLocks noChangeAspect="1"/>
          </p:cNvPicPr>
          <p:nvPr/>
        </p:nvPicPr>
        <p:blipFill>
          <a:blip r:embed="rId3"/>
          <a:srcRect l="17227" r="17227"/>
          <a:stretch/>
        </p:blipFill>
        <p:spPr>
          <a:xfrm>
            <a:off x="530352" y="960120"/>
            <a:ext cx="475488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960120"/>
            <a:ext cx="4754880" cy="5440680"/>
          </a:xfrm>
          <a:prstGeom prst="roundRect">
            <a:avLst>
              <a:gd name="adj" fmla="val 1538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0352" y="4480560"/>
            <a:ext cx="4754880" cy="1920240"/>
          </a:xfrm>
          <a:prstGeom prst="rect">
            <a:avLst/>
          </a:prstGeom>
          <a:solidFill>
            <a:srgbClr val="17324D">
              <a:alpha val="8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" y="4681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Parks System </a:t>
            </a:r>
            <a:r>
              <a:rPr lang="en-US" b="1">
                <a:solidFill>
                  <a:srgbClr val="FFFFFF"/>
                </a:solidFill>
              </a:rPr>
              <a:t>S</a:t>
            </a:r>
            <a:r>
              <a:rPr lang="en-US" sz="1800" b="1">
                <a:solidFill>
                  <a:srgbClr val="FFFFFF"/>
                </a:solidFill>
              </a:rPr>
              <a:t>cale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630246" y="5065776"/>
            <a:ext cx="2935914" cy="101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rgbClr val="FFFFFF"/>
                </a:solidFill>
              </a:rPr>
              <a:t>335+ acres of public parkland</a:t>
            </a:r>
            <a:endParaRPr lang="en-US" sz="1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rgbClr val="FFFFFF"/>
                </a:solidFill>
              </a:rPr>
              <a:t>19 city-owned or leased park sites</a:t>
            </a:r>
            <a:endParaRPr lang="en-US" sz="1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rgbClr val="FFFFFF"/>
                </a:solidFill>
              </a:rPr>
              <a:t>23.6 acres of multiuse trails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3566160" y="515721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>
                <a:solidFill>
                  <a:srgbClr val="F2F7F4"/>
                </a:solidFill>
              </a:rPr>
              <a:t>A small leadership gap can slow maintenance scheduling, vendor coordination, campground operations, special events, and field readiness all at once.</a:t>
            </a:r>
            <a:endParaRPr lang="en-US" sz="1180"/>
          </a:p>
        </p:txBody>
      </p:sp>
      <p:sp>
        <p:nvSpPr>
          <p:cNvPr id="12" name="Text 9"/>
          <p:cNvSpPr/>
          <p:nvPr/>
        </p:nvSpPr>
        <p:spPr>
          <a:xfrm>
            <a:off x="2969902" y="643737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E6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2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highlandvillage.org/149/Par…</a:t>
            </a:r>
            <a:endParaRPr lang="en-US" sz="820"/>
          </a:p>
        </p:txBody>
      </p:sp>
      <p:sp>
        <p:nvSpPr>
          <p:cNvPr id="13" name="Shape 10"/>
          <p:cNvSpPr/>
          <p:nvPr/>
        </p:nvSpPr>
        <p:spPr>
          <a:xfrm>
            <a:off x="5577840" y="1024128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4C8B5B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05856" y="1124712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Pilot Knoll</a:t>
            </a:r>
            <a:endParaRPr lang="en-US" sz="1020"/>
          </a:p>
        </p:txBody>
      </p:sp>
      <p:sp>
        <p:nvSpPr>
          <p:cNvPr id="15" name="Text 12"/>
          <p:cNvSpPr/>
          <p:nvPr/>
        </p:nvSpPr>
        <p:spPr>
          <a:xfrm>
            <a:off x="5705856" y="1307592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4C8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65–85 acres</a:t>
            </a:r>
            <a:endParaRPr lang="en-US" sz="2000"/>
          </a:p>
        </p:txBody>
      </p:sp>
      <p:sp>
        <p:nvSpPr>
          <p:cNvPr id="16" name="Text 13"/>
          <p:cNvSpPr/>
          <p:nvPr/>
        </p:nvSpPr>
        <p:spPr>
          <a:xfrm>
            <a:off x="5705856" y="165506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Lake Lewisville park footprint varies with water level.</a:t>
            </a:r>
            <a:endParaRPr lang="en-US" sz="1020"/>
          </a:p>
        </p:txBody>
      </p:sp>
      <p:sp>
        <p:nvSpPr>
          <p:cNvPr id="17" name="Text 14"/>
          <p:cNvSpPr/>
          <p:nvPr/>
        </p:nvSpPr>
        <p:spPr>
          <a:xfrm>
            <a:off x="5705856" y="2215263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highlandvillage.org/facilit…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7626096" y="1024128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C5E9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54112" y="1124712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Campground inventory</a:t>
            </a:r>
            <a:endParaRPr lang="en-US" sz="1020"/>
          </a:p>
        </p:txBody>
      </p:sp>
      <p:sp>
        <p:nvSpPr>
          <p:cNvPr id="20" name="Text 17"/>
          <p:cNvSpPr/>
          <p:nvPr/>
        </p:nvSpPr>
        <p:spPr>
          <a:xfrm>
            <a:off x="7754112" y="1307592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C5E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 sites</a:t>
            </a:r>
            <a:endParaRPr lang="en-US" sz="2000"/>
          </a:p>
        </p:txBody>
      </p:sp>
      <p:sp>
        <p:nvSpPr>
          <p:cNvPr id="21" name="Text 18"/>
          <p:cNvSpPr/>
          <p:nvPr/>
        </p:nvSpPr>
        <p:spPr>
          <a:xfrm>
            <a:off x="7754112" y="165506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RV/tent campsites with 50-amp hookups.</a:t>
            </a:r>
            <a:endParaRPr lang="en-US" sz="1020"/>
          </a:p>
        </p:txBody>
      </p:sp>
      <p:sp>
        <p:nvSpPr>
          <p:cNvPr id="22" name="Text 19"/>
          <p:cNvSpPr/>
          <p:nvPr/>
        </p:nvSpPr>
        <p:spPr>
          <a:xfrm>
            <a:off x="7827264" y="2216643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highlandvillage.org/facilit…</a:t>
            </a:r>
            <a:endParaRPr lang="en-US" sz="850"/>
          </a:p>
        </p:txBody>
      </p:sp>
      <p:sp>
        <p:nvSpPr>
          <p:cNvPr id="23" name="Shape 20"/>
          <p:cNvSpPr/>
          <p:nvPr/>
        </p:nvSpPr>
        <p:spPr>
          <a:xfrm>
            <a:off x="9674352" y="1024128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7706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02368" y="1124712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Day-use inventory</a:t>
            </a:r>
            <a:endParaRPr lang="en-US" sz="1020"/>
          </a:p>
        </p:txBody>
      </p:sp>
      <p:sp>
        <p:nvSpPr>
          <p:cNvPr id="25" name="Text 22"/>
          <p:cNvSpPr/>
          <p:nvPr/>
        </p:nvSpPr>
        <p:spPr>
          <a:xfrm>
            <a:off x="9802368" y="1307592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 tables</a:t>
            </a:r>
            <a:endParaRPr lang="en-US" sz="2000"/>
          </a:p>
        </p:txBody>
      </p:sp>
      <p:sp>
        <p:nvSpPr>
          <p:cNvPr id="26" name="Text 23"/>
          <p:cNvSpPr/>
          <p:nvPr/>
        </p:nvSpPr>
        <p:spPr>
          <a:xfrm>
            <a:off x="9802368" y="165506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Covered and uncovered picnic tables with grills.</a:t>
            </a:r>
            <a:endParaRPr lang="en-US" sz="1020"/>
          </a:p>
        </p:txBody>
      </p:sp>
      <p:sp>
        <p:nvSpPr>
          <p:cNvPr id="27" name="Text 24"/>
          <p:cNvSpPr/>
          <p:nvPr/>
        </p:nvSpPr>
        <p:spPr>
          <a:xfrm>
            <a:off x="9802368" y="2216643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highlandvillage.org/facilit…</a:t>
            </a:r>
            <a:endParaRPr lang="en-US" sz="850"/>
          </a:p>
        </p:txBody>
      </p:sp>
      <p:sp>
        <p:nvSpPr>
          <p:cNvPr id="28" name="Shape 25"/>
          <p:cNvSpPr/>
          <p:nvPr/>
        </p:nvSpPr>
        <p:spPr>
          <a:xfrm>
            <a:off x="5559552" y="2578608"/>
            <a:ext cx="5989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742432" y="2743200"/>
            <a:ext cx="1783080" cy="246888"/>
          </a:xfrm>
          <a:prstGeom prst="roundRect">
            <a:avLst>
              <a:gd name="adj" fmla="val 18519"/>
            </a:avLst>
          </a:prstGeom>
          <a:solidFill>
            <a:srgbClr val="4C8B5B">
              <a:alpha val="90000"/>
            </a:srgbClr>
          </a:solidFill>
          <a:ln w="12700">
            <a:solidFill>
              <a:srgbClr val="4C8B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15584" y="2779776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chemeClr val="bg2"/>
                </a:solidFill>
              </a:rPr>
              <a:t>BUDGET + RECENT INVESTMENT</a:t>
            </a:r>
            <a:endParaRPr lang="en-US" sz="900">
              <a:solidFill>
                <a:schemeClr val="bg2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573509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222E"/>
                </a:solidFill>
              </a:rPr>
              <a:t>FY 2025/2026 Parks budget: $2.686M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15222E"/>
                </a:solidFill>
              </a:rPr>
              <a:t>FY 2025 Parks &amp; recreation expenses: +$667k year over year</a:t>
            </a:r>
            <a:endParaRPr lang="en-US" sz="1800"/>
          </a:p>
        </p:txBody>
      </p:sp>
      <p:sp>
        <p:nvSpPr>
          <p:cNvPr id="32" name="Text 29"/>
          <p:cNvSpPr/>
          <p:nvPr/>
        </p:nvSpPr>
        <p:spPr>
          <a:xfrm>
            <a:off x="8211312" y="303580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>
                <a:solidFill>
                  <a:srgbClr val="15222E"/>
                </a:solidFill>
              </a:rPr>
              <a:t>Examples cited in the 2025 ACFR:</a:t>
            </a:r>
            <a:endParaRPr lang="en-US" sz="1330"/>
          </a:p>
          <a:p>
            <a:pPr marL="0" indent="0">
              <a:buNone/>
            </a:pPr>
            <a:r>
              <a:rPr lang="en-US" sz="1330">
                <a:solidFill>
                  <a:srgbClr val="15222E"/>
                </a:solidFill>
              </a:rPr>
              <a:t>• $298,011 overlay work at Pilot Knoll + Copperas Branch</a:t>
            </a:r>
            <a:endParaRPr lang="en-US" sz="1330"/>
          </a:p>
          <a:p>
            <a:pPr marL="0" indent="0">
              <a:buNone/>
            </a:pPr>
            <a:r>
              <a:rPr lang="en-US" sz="1330">
                <a:solidFill>
                  <a:srgbClr val="15222E"/>
                </a:solidFill>
              </a:rPr>
              <a:t>• $126,787 splash pad upgrades</a:t>
            </a:r>
            <a:endParaRPr lang="en-US" sz="1330"/>
          </a:p>
          <a:p>
            <a:pPr marL="0" indent="0">
              <a:buNone/>
            </a:pPr>
            <a:r>
              <a:rPr lang="en-US" sz="1330">
                <a:solidFill>
                  <a:srgbClr val="15222E"/>
                </a:solidFill>
              </a:rPr>
              <a:t>• $99,694 electrical improvements at Doubletree Ranch Park</a:t>
            </a:r>
            <a:endParaRPr lang="en-US" sz="1330"/>
          </a:p>
          <a:p>
            <a:pPr marL="0" indent="0">
              <a:buNone/>
            </a:pPr>
            <a:r>
              <a:rPr lang="en-US" sz="1330">
                <a:solidFill>
                  <a:srgbClr val="15222E"/>
                </a:solidFill>
              </a:rPr>
              <a:t>• $86,240 trail alignment assessment for FM 407</a:t>
            </a:r>
            <a:endParaRPr lang="en-US" sz="1330"/>
          </a:p>
        </p:txBody>
      </p:sp>
      <p:sp>
        <p:nvSpPr>
          <p:cNvPr id="33" name="Text 30"/>
          <p:cNvSpPr/>
          <p:nvPr/>
        </p:nvSpPr>
        <p:spPr>
          <a:xfrm>
            <a:off x="5742432" y="47091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34" name="Text 31"/>
          <p:cNvSpPr/>
          <p:nvPr/>
        </p:nvSpPr>
        <p:spPr>
          <a:xfrm>
            <a:off x="8211312" y="470916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35" name="Shape 32"/>
          <p:cNvSpPr/>
          <p:nvPr/>
        </p:nvSpPr>
        <p:spPr>
          <a:xfrm>
            <a:off x="5559552" y="5193792"/>
            <a:ext cx="6163746" cy="987552"/>
          </a:xfrm>
          <a:prstGeom prst="roundRect">
            <a:avLst>
              <a:gd name="adj" fmla="val 7407"/>
            </a:avLst>
          </a:prstGeom>
          <a:solidFill>
            <a:srgbClr val="E8F3EA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42432" y="5468112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15222E"/>
                </a:solidFill>
              </a:rPr>
              <a:t>Succession implication: parks leadership needs strong cross-training across assets, events, facilities, and campground operations so site knowledge does not leave with one supervisor.</a:t>
            </a:r>
            <a:endParaRPr lang="en-US" sz="16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00213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Budget and Capital Evidence: Succession is also a Continuity Issue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5222E"/>
                </a:solidFill>
              </a:rPr>
              <a:t>Highland Village is putting real dollars behind both departments. That makes knowledge transfer more important: the city is not just replacing people, it is protecting operating decisions tied to staffing, apparatus, sites, and vendors.</a:t>
            </a:r>
            <a:endParaRPr lang="en-US" sz="160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481328"/>
          <a:ext cx="5257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30352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8" name="Shape 5"/>
          <p:cNvSpPr/>
          <p:nvPr/>
        </p:nvSpPr>
        <p:spPr>
          <a:xfrm>
            <a:off x="6172200" y="1499616"/>
            <a:ext cx="2560320" cy="1389888"/>
          </a:xfrm>
          <a:prstGeom prst="roundRect">
            <a:avLst>
              <a:gd name="adj" fmla="val 5263"/>
            </a:avLst>
          </a:prstGeom>
          <a:solidFill>
            <a:srgbClr val="F8E5E1"/>
          </a:solidFill>
          <a:ln w="12700">
            <a:solidFill>
              <a:srgbClr val="C94832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0216" y="1600200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Public safety personnel cost shift</a:t>
            </a:r>
            <a:endParaRPr lang="en-US" sz="1020"/>
          </a:p>
        </p:txBody>
      </p:sp>
      <p:sp>
        <p:nvSpPr>
          <p:cNvPr id="10" name="Text 7"/>
          <p:cNvSpPr/>
          <p:nvPr/>
        </p:nvSpPr>
        <p:spPr>
          <a:xfrm>
            <a:off x="6300216" y="178308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94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+$767,595</a:t>
            </a:r>
            <a:endParaRPr lang="en-US" sz="2100"/>
          </a:p>
        </p:txBody>
      </p:sp>
      <p:sp>
        <p:nvSpPr>
          <p:cNvPr id="11" name="Text 8"/>
          <p:cNvSpPr/>
          <p:nvPr/>
        </p:nvSpPr>
        <p:spPr>
          <a:xfrm>
            <a:off x="6300216" y="213055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>
                <a:solidFill>
                  <a:srgbClr val="15222E"/>
                </a:solidFill>
              </a:rPr>
              <a:t>FY 2025 increase in personnel costs tied mainly to a 6% market adjustment and the addition of a firefighter/paramedic position.</a:t>
            </a:r>
            <a:endParaRPr lang="en-US" sz="1020"/>
          </a:p>
        </p:txBody>
      </p:sp>
      <p:sp>
        <p:nvSpPr>
          <p:cNvPr id="12" name="Text 9"/>
          <p:cNvSpPr/>
          <p:nvPr/>
        </p:nvSpPr>
        <p:spPr>
          <a:xfrm>
            <a:off x="6309360" y="296265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13" name="Shape 10"/>
          <p:cNvSpPr/>
          <p:nvPr/>
        </p:nvSpPr>
        <p:spPr>
          <a:xfrm>
            <a:off x="8887968" y="1499616"/>
            <a:ext cx="2377440" cy="1389888"/>
          </a:xfrm>
          <a:prstGeom prst="roundRect">
            <a:avLst>
              <a:gd name="adj" fmla="val 5263"/>
            </a:avLst>
          </a:prstGeom>
          <a:solidFill>
            <a:srgbClr val="E8F3EA"/>
          </a:solidFill>
          <a:ln w="12700">
            <a:solidFill>
              <a:srgbClr val="4C8B5B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15984" y="1600200"/>
            <a:ext cx="21214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Parks expense shift</a:t>
            </a:r>
            <a:endParaRPr lang="en-US" sz="1020"/>
          </a:p>
        </p:txBody>
      </p:sp>
      <p:sp>
        <p:nvSpPr>
          <p:cNvPr id="15" name="Text 12"/>
          <p:cNvSpPr/>
          <p:nvPr/>
        </p:nvSpPr>
        <p:spPr>
          <a:xfrm>
            <a:off x="9015984" y="178308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4C8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+$666,793</a:t>
            </a:r>
            <a:endParaRPr lang="en-US" sz="2100"/>
          </a:p>
        </p:txBody>
      </p:sp>
      <p:sp>
        <p:nvSpPr>
          <p:cNvPr id="16" name="Text 13"/>
          <p:cNvSpPr/>
          <p:nvPr/>
        </p:nvSpPr>
        <p:spPr>
          <a:xfrm>
            <a:off x="9015984" y="2130552"/>
            <a:ext cx="2121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90">
                <a:solidFill>
                  <a:srgbClr val="15222E"/>
                </a:solidFill>
              </a:rPr>
              <a:t>FY 2025 parks &amp; recreation increase driven by overlay, trail, splash pad, and electrical work plus event return.</a:t>
            </a:r>
            <a:endParaRPr lang="en-US" sz="990"/>
          </a:p>
        </p:txBody>
      </p:sp>
      <p:sp>
        <p:nvSpPr>
          <p:cNvPr id="17" name="Text 14"/>
          <p:cNvSpPr/>
          <p:nvPr/>
        </p:nvSpPr>
        <p:spPr>
          <a:xfrm>
            <a:off x="9025128" y="296265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6172200" y="3127248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AF2F9"/>
          </a:solidFill>
          <a:ln w="12700">
            <a:solidFill>
              <a:srgbClr val="17324D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00216" y="3227832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Fire equipment in 2024 tax note</a:t>
            </a:r>
            <a:endParaRPr lang="en-US" sz="1020"/>
          </a:p>
        </p:txBody>
      </p:sp>
      <p:sp>
        <p:nvSpPr>
          <p:cNvPr id="20" name="Text 17"/>
          <p:cNvSpPr/>
          <p:nvPr/>
        </p:nvSpPr>
        <p:spPr>
          <a:xfrm>
            <a:off x="6300216" y="341071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$1.20M</a:t>
            </a:r>
            <a:endParaRPr lang="en-US" sz="2100"/>
          </a:p>
        </p:txBody>
      </p:sp>
      <p:sp>
        <p:nvSpPr>
          <p:cNvPr id="21" name="Text 18"/>
          <p:cNvSpPr/>
          <p:nvPr/>
        </p:nvSpPr>
        <p:spPr>
          <a:xfrm>
            <a:off x="6300216" y="3758184"/>
            <a:ext cx="2304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90">
                <a:solidFill>
                  <a:srgbClr val="15222E"/>
                </a:solidFill>
              </a:rPr>
              <a:t>Ambulance $450k + Ambulance $480k + Brush Truck $270k.</a:t>
            </a:r>
            <a:endParaRPr lang="en-US" sz="990"/>
          </a:p>
        </p:txBody>
      </p:sp>
      <p:sp>
        <p:nvSpPr>
          <p:cNvPr id="22" name="Text 19"/>
          <p:cNvSpPr/>
          <p:nvPr/>
        </p:nvSpPr>
        <p:spPr>
          <a:xfrm>
            <a:off x="6309360" y="448056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23" name="Shape 20"/>
          <p:cNvSpPr/>
          <p:nvPr/>
        </p:nvSpPr>
        <p:spPr>
          <a:xfrm>
            <a:off x="8887968" y="3127248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4E5"/>
          </a:solidFill>
          <a:ln w="12700">
            <a:solidFill>
              <a:srgbClr val="D97706">
                <a:alpha val="5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015984" y="3227832"/>
            <a:ext cx="21214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>
                <a:solidFill>
                  <a:srgbClr val="6B7280"/>
                </a:solidFill>
              </a:rPr>
              <a:t>Parks equipment in 2024 tax note</a:t>
            </a:r>
            <a:endParaRPr lang="en-US" sz="1020"/>
          </a:p>
        </p:txBody>
      </p:sp>
      <p:sp>
        <p:nvSpPr>
          <p:cNvPr id="25" name="Text 22"/>
          <p:cNvSpPr/>
          <p:nvPr/>
        </p:nvSpPr>
        <p:spPr>
          <a:xfrm>
            <a:off x="9015984" y="341071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$228k</a:t>
            </a:r>
            <a:endParaRPr lang="en-US" sz="2100"/>
          </a:p>
        </p:txBody>
      </p:sp>
      <p:sp>
        <p:nvSpPr>
          <p:cNvPr id="26" name="Text 23"/>
          <p:cNvSpPr/>
          <p:nvPr/>
        </p:nvSpPr>
        <p:spPr>
          <a:xfrm>
            <a:off x="9015984" y="3758184"/>
            <a:ext cx="2121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90">
                <a:solidFill>
                  <a:srgbClr val="15222E"/>
                </a:solidFill>
              </a:rPr>
              <a:t>Large Tractor $105k + Small Tractor $60k + Athletic Mower $63k.</a:t>
            </a:r>
            <a:endParaRPr lang="en-US" sz="990"/>
          </a:p>
        </p:txBody>
      </p:sp>
      <p:sp>
        <p:nvSpPr>
          <p:cNvPr id="27" name="Text 24"/>
          <p:cNvSpPr/>
          <p:nvPr/>
        </p:nvSpPr>
        <p:spPr>
          <a:xfrm>
            <a:off x="9025128" y="44805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28" name="Shape 25"/>
          <p:cNvSpPr/>
          <p:nvPr/>
        </p:nvSpPr>
        <p:spPr>
          <a:xfrm>
            <a:off x="5969479" y="4753155"/>
            <a:ext cx="5986732" cy="11128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52358" y="5064051"/>
            <a:ext cx="5639951" cy="74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5222E"/>
                </a:solidFill>
              </a:rPr>
              <a:t>Fire budget is 1.64× the Parks budget, but both departments carry equipment and site knowledge that becomes vulnerable when experienced staff leave without handoff.</a:t>
            </a:r>
            <a:endParaRPr lang="en-US" sz="1500"/>
          </a:p>
        </p:txBody>
      </p:sp>
      <p:sp>
        <p:nvSpPr>
          <p:cNvPr id="30" name="Text 27"/>
          <p:cNvSpPr/>
          <p:nvPr/>
        </p:nvSpPr>
        <p:spPr>
          <a:xfrm>
            <a:off x="6355080" y="554126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31" name="Text 28"/>
          <p:cNvSpPr/>
          <p:nvPr/>
        </p:nvSpPr>
        <p:spPr>
          <a:xfrm>
            <a:off x="7973568" y="5603547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32" name="Text 29"/>
          <p:cNvSpPr/>
          <p:nvPr/>
        </p:nvSpPr>
        <p:spPr>
          <a:xfrm>
            <a:off x="9646920" y="554126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850" u="sng">
                <a:solidFill>
                  <a:srgbClr val="2C5E9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highlandvillage.org/Archive…</a:t>
            </a:r>
            <a:endParaRPr lang="en-US" sz="8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CE60BB-E872-0872-961D-D7193A73BA91}"/>
              </a:ext>
            </a:extLst>
          </p:cNvPr>
          <p:cNvSpPr txBox="1"/>
          <p:nvPr/>
        </p:nvSpPr>
        <p:spPr>
          <a:xfrm rot="16200000">
            <a:off x="-1152258" y="3145424"/>
            <a:ext cx="30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accent1">
                    <a:lumMod val="50000"/>
                  </a:schemeClr>
                </a:solidFill>
              </a:rPr>
              <a:t>Budget (in Millions of Dollars)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02A40-6BCD-8E10-C66B-A9DC11505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1F5A35AD-440C-995D-38A9-20CA6F60A0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95" r="12795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926C926-30AF-4F01-C499-50846FFB221E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1722">
              <a:alpha val="6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4E7DFC0-167F-0B64-B067-88960DF4D78F}"/>
              </a:ext>
            </a:extLst>
          </p:cNvPr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722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8AE68D2-823B-9E50-7037-86D6F300F909}"/>
              </a:ext>
            </a:extLst>
          </p:cNvPr>
          <p:cNvSpPr/>
          <p:nvPr/>
        </p:nvSpPr>
        <p:spPr>
          <a:xfrm>
            <a:off x="884432" y="5445030"/>
            <a:ext cx="1042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chemeClr val="bg1"/>
                </a:solidFill>
              </a:rPr>
              <a:t>COHV Fire Department Succession Planning</a:t>
            </a:r>
          </a:p>
        </p:txBody>
      </p:sp>
    </p:spTree>
    <p:extLst>
      <p:ext uri="{BB962C8B-B14F-4D97-AF65-F5344CB8AC3E}">
        <p14:creationId xmlns:p14="http://schemas.microsoft.com/office/powerpoint/2010/main" val="3758761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BAE11-BF34-7D3A-98EA-D46DF397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C0DF20-E61F-701D-6E5D-0C284EE61F2D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A7694D-59D8-C046-8366-E8134C85A5B6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9FFA4-7979-AEFE-0EAD-4FC30C96FD5D}"/>
              </a:ext>
            </a:extLst>
          </p:cNvPr>
          <p:cNvSpPr txBox="1"/>
          <p:nvPr/>
        </p:nvSpPr>
        <p:spPr>
          <a:xfrm>
            <a:off x="299584" y="1038457"/>
            <a:ext cx="11408228" cy="46782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/>
              <a:t>Based on the internal Fire Department spreadsheet, there are 23 employees included in the succession review. </a:t>
            </a:r>
          </a:p>
          <a:p>
            <a:endParaRPr lang="en-US" sz="2000"/>
          </a:p>
          <a:p>
            <a:r>
              <a:rPr lang="en-US" sz="2000"/>
              <a:t>The biggest issue is that no employees are marked as “Ready Now” for leadership promotion. </a:t>
            </a:r>
          </a:p>
          <a:p>
            <a:endParaRPr lang="en-US" sz="2000"/>
          </a:p>
          <a:p>
            <a:r>
              <a:rPr lang="en-US" sz="2000"/>
              <a:t>Most of the concern comes from two areas: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High-risk roles are tied to retirement eligibility or important leadership positions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Medium-risk roles are mostly tied to external job market demand </a:t>
            </a:r>
          </a:p>
          <a:p>
            <a:endParaRPr lang="en-US" sz="2000"/>
          </a:p>
          <a:p>
            <a:r>
              <a:rPr lang="en-US" sz="2000"/>
              <a:t>This means the department may be staffed right now, but it does not have many people ready to step into leadership roles immediately.</a:t>
            </a:r>
          </a:p>
          <a:p>
            <a:endParaRPr lang="en-US" sz="2000" b="1"/>
          </a:p>
          <a:p>
            <a:r>
              <a:rPr lang="en-US" sz="2000" b="1"/>
              <a:t>Main Point:</a:t>
            </a:r>
            <a:br>
              <a:rPr lang="en-US" sz="2000"/>
            </a:br>
            <a:r>
              <a:rPr lang="en-US" sz="2000"/>
              <a:t>The Fire Department has people in the pipeline, but not enough people ready to take over right away.</a:t>
            </a:r>
          </a:p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4915FF3-BBE6-D5CA-4E0C-27F993F2C043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Fire Department Succession Reality</a:t>
            </a:r>
          </a:p>
        </p:txBody>
      </p:sp>
    </p:spTree>
    <p:extLst>
      <p:ext uri="{BB962C8B-B14F-4D97-AF65-F5344CB8AC3E}">
        <p14:creationId xmlns:p14="http://schemas.microsoft.com/office/powerpoint/2010/main" val="355607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D71F6-8411-1306-1FDE-0E8914091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1E5478-3900-D718-396E-5A62FDABA2DA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BF484D-8349-AB4D-EEA5-512D003A9B7C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C98E3-30F1-F997-34D1-E7F8778E6512}"/>
              </a:ext>
            </a:extLst>
          </p:cNvPr>
          <p:cNvSpPr txBox="1"/>
          <p:nvPr/>
        </p:nvSpPr>
        <p:spPr>
          <a:xfrm>
            <a:off x="239486" y="1262743"/>
            <a:ext cx="1140822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Fire Department promotions are not simple because employees need several certifications and years of experience before moving up.</a:t>
            </a:r>
          </a:p>
          <a:p>
            <a:endParaRPr lang="en-US" sz="2000"/>
          </a:p>
          <a:p>
            <a:r>
              <a:rPr lang="en-US" sz="2000"/>
              <a:t>For leadership roles, employees may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Paramedic certification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TCFP firefighter certification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Fire Officer certifications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ICS / incident command training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Experience leading crews or shifts </a:t>
            </a:r>
          </a:p>
          <a:p>
            <a:endParaRPr lang="en-US" sz="2000"/>
          </a:p>
          <a:p>
            <a:r>
              <a:rPr lang="en-US" sz="2000"/>
              <a:t>This makes succession planning harder because someone may be a good future candidate, but still not ready today.</a:t>
            </a:r>
          </a:p>
          <a:p>
            <a:endParaRPr lang="en-US" sz="2000"/>
          </a:p>
          <a:p>
            <a:r>
              <a:rPr lang="en-US" sz="2000" b="1"/>
              <a:t>Why this matters:</a:t>
            </a:r>
            <a:br>
              <a:rPr lang="en-US" sz="2000"/>
            </a:br>
            <a:r>
              <a:rPr lang="en-US" sz="2000"/>
              <a:t>If a vacancy happens soon, the department may have to rely on acting assignments or outside hiring.</a:t>
            </a:r>
          </a:p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5607C74-1FA9-E360-9ECC-155D2B1B3591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Why Fire Department Succession Takes Longer</a:t>
            </a:r>
          </a:p>
        </p:txBody>
      </p:sp>
    </p:spTree>
    <p:extLst>
      <p:ext uri="{BB962C8B-B14F-4D97-AF65-F5344CB8AC3E}">
        <p14:creationId xmlns:p14="http://schemas.microsoft.com/office/powerpoint/2010/main" val="2159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389C8-C129-337A-813E-A20A26D1F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111D3-6FE1-F0E1-7C47-CBDFAE207B22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065255-1665-A0BE-FA2E-47D21C7F145F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F4E4F-196F-E9C5-07B6-50AF8C32B30F}"/>
              </a:ext>
            </a:extLst>
          </p:cNvPr>
          <p:cNvSpPr txBox="1"/>
          <p:nvPr/>
        </p:nvSpPr>
        <p:spPr>
          <a:xfrm>
            <a:off x="179101" y="815032"/>
            <a:ext cx="11897880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The spreadsheet shows that the department does have a possible succession path. The issue is that most of these people are still future options, not immediate replacements.</a:t>
            </a:r>
          </a:p>
          <a:p>
            <a:endParaRPr lang="en-US" sz="1600" dirty="0"/>
          </a:p>
          <a:p>
            <a:r>
              <a:rPr lang="en-US" sz="1600" b="1" dirty="0"/>
              <a:t>Fire Chief Level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Existing: GREEN, RICKIE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Backup: Kevin Gosselin, Assistant Chief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Long-term replacement may require outside hiring or more internal development </a:t>
            </a:r>
          </a:p>
          <a:p>
            <a:endParaRPr lang="en-US" sz="1600" dirty="0"/>
          </a:p>
          <a:p>
            <a:r>
              <a:rPr lang="en-US" sz="1600" b="1" dirty="0"/>
              <a:t>Captain to Assistant Chief Pipeline</a:t>
            </a:r>
          </a:p>
          <a:p>
            <a:r>
              <a:rPr lang="en-US" sz="1600" dirty="0"/>
              <a:t>Existing: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Assistant Fire Chief: </a:t>
            </a:r>
            <a:r>
              <a:rPr lang="en-US" sz="1600" dirty="0">
                <a:ea typeface="+mn-lt"/>
                <a:cs typeface="+mn-lt"/>
              </a:rPr>
              <a:t>GOSSELIN, KEVIN J</a:t>
            </a:r>
            <a:endParaRPr lang="en-US" sz="1600" dirty="0"/>
          </a:p>
          <a:p>
            <a:r>
              <a:rPr lang="en-US" sz="1600" dirty="0"/>
              <a:t>Backup: Chief Green, Fire Chief</a:t>
            </a:r>
          </a:p>
          <a:p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Captain: </a:t>
            </a:r>
            <a:r>
              <a:rPr lang="en-US" sz="1600" dirty="0" err="1">
                <a:ea typeface="+mn-lt"/>
                <a:cs typeface="+mn-lt"/>
              </a:rPr>
              <a:t>Sorbsy</a:t>
            </a:r>
            <a:r>
              <a:rPr lang="en-US" sz="1600" dirty="0">
                <a:ea typeface="+mn-lt"/>
                <a:cs typeface="+mn-lt"/>
              </a:rPr>
              <a:t> Tony, Daniel Ortmeier, Jared Middleton L</a:t>
            </a:r>
            <a:endParaRPr lang="en-US" sz="1600" dirty="0"/>
          </a:p>
          <a:p>
            <a:r>
              <a:rPr lang="en-US" sz="1600" dirty="0"/>
              <a:t>Backup: Chief Green or Kevin Gosselin</a:t>
            </a:r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r>
              <a:rPr lang="en-US" sz="1600" b="1" dirty="0"/>
              <a:t>Driver/Operator to Captain Pipeline</a:t>
            </a:r>
          </a:p>
          <a:p>
            <a:r>
              <a:rPr lang="en-US" sz="1600" dirty="0"/>
              <a:t>Existing: </a:t>
            </a:r>
            <a:r>
              <a:rPr lang="en-US" sz="1600" dirty="0">
                <a:ea typeface="+mn-lt"/>
                <a:cs typeface="+mn-lt"/>
              </a:rPr>
              <a:t>HARPER M, Justin Moore, Robert Dukes, Joshua Mabry, Jared Carlsen</a:t>
            </a:r>
            <a:endParaRPr lang="en-US" sz="1600" dirty="0"/>
          </a:p>
          <a:p>
            <a:r>
              <a:rPr lang="en-US" sz="1600" dirty="0"/>
              <a:t>Backup: </a:t>
            </a:r>
            <a:r>
              <a:rPr lang="en-US" sz="1600" dirty="0" err="1"/>
              <a:t>Stepup</a:t>
            </a:r>
            <a:r>
              <a:rPr lang="en-US" sz="1600" dirty="0"/>
              <a:t> Fire Fighters</a:t>
            </a:r>
          </a:p>
          <a:p>
            <a:endParaRPr lang="en-US" sz="1600" dirty="0"/>
          </a:p>
          <a:p>
            <a:r>
              <a:rPr lang="en-US" sz="1600" b="1" dirty="0"/>
              <a:t>FF/Paramedics and Support Pipeline</a:t>
            </a:r>
            <a:endParaRPr lang="en-US" sz="1600" dirty="0"/>
          </a:p>
          <a:p>
            <a:r>
              <a:rPr lang="en-US" sz="1600" dirty="0"/>
              <a:t>Existing: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FF/Paramedics: Tony, Benjamin, Shilo, Austin, Moore, Abigail Harris, Nathan Thomas, Chase M, Mathew, Caleb, Joseph 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Fire Support Spec: Charlene </a:t>
            </a:r>
            <a:r>
              <a:rPr lang="en-US" sz="1600" dirty="0" err="1"/>
              <a:t>Seildl</a:t>
            </a:r>
            <a:endParaRPr lang="en-US" sz="1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A5F371F-7BCB-AC6F-2CBE-5F6B9C1385CC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Existing Fire Department Successor Pipeline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BA2B0-CA59-3CB9-81D0-67C8254F6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393" y="2162909"/>
            <a:ext cx="249000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36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DA79A-B76E-5053-408C-19A62589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0B0576-94B8-B002-8202-36426BFAFDF3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2DB45C-14B5-B339-CF1A-A36D7338D40A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617E8EF-A870-91DE-C75D-BD44AE966992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Proposed Fire Department Succession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5580F-41C8-1B7D-FF8F-302E1A7D2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786" y="801624"/>
            <a:ext cx="8758428" cy="58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54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5A4CC-D893-2FF2-37FC-5CD3F029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57404D-8122-AADE-5975-208DA02343BE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C3FDBB-126B-D4BA-9A9A-74A22098DD65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AC1F662-47AD-75CD-8A16-FAA532181E83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Proposed Fire Department Succession Plan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0FFB89A-59F9-BCCF-CB2C-3E3767D97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762735"/>
              </p:ext>
            </p:extLst>
          </p:nvPr>
        </p:nvGraphicFramePr>
        <p:xfrm>
          <a:off x="74950" y="737017"/>
          <a:ext cx="12042863" cy="595999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336622">
                  <a:extLst>
                    <a:ext uri="{9D8B030D-6E8A-4147-A177-3AD203B41FA5}">
                      <a16:colId xmlns:a16="http://schemas.microsoft.com/office/drawing/2014/main" val="3838376899"/>
                    </a:ext>
                  </a:extLst>
                </a:gridCol>
                <a:gridCol w="1124262">
                  <a:extLst>
                    <a:ext uri="{9D8B030D-6E8A-4147-A177-3AD203B41FA5}">
                      <a16:colId xmlns:a16="http://schemas.microsoft.com/office/drawing/2014/main" val="4150580767"/>
                    </a:ext>
                  </a:extLst>
                </a:gridCol>
                <a:gridCol w="1573965">
                  <a:extLst>
                    <a:ext uri="{9D8B030D-6E8A-4147-A177-3AD203B41FA5}">
                      <a16:colId xmlns:a16="http://schemas.microsoft.com/office/drawing/2014/main" val="816572970"/>
                    </a:ext>
                  </a:extLst>
                </a:gridCol>
                <a:gridCol w="1600888">
                  <a:extLst>
                    <a:ext uri="{9D8B030D-6E8A-4147-A177-3AD203B41FA5}">
                      <a16:colId xmlns:a16="http://schemas.microsoft.com/office/drawing/2014/main" val="3096856010"/>
                    </a:ext>
                  </a:extLst>
                </a:gridCol>
                <a:gridCol w="4694980">
                  <a:extLst>
                    <a:ext uri="{9D8B030D-6E8A-4147-A177-3AD203B41FA5}">
                      <a16:colId xmlns:a16="http://schemas.microsoft.com/office/drawing/2014/main" val="721647069"/>
                    </a:ext>
                  </a:extLst>
                </a:gridCol>
                <a:gridCol w="1712146">
                  <a:extLst>
                    <a:ext uri="{9D8B030D-6E8A-4147-A177-3AD203B41FA5}">
                      <a16:colId xmlns:a16="http://schemas.microsoft.com/office/drawing/2014/main" val="272096792"/>
                    </a:ext>
                  </a:extLst>
                </a:gridCol>
              </a:tblGrid>
              <a:tr h="5472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Role/position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Potential Successor names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Backup Coverage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Potential future eligible successor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Reason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Recommendation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6104187"/>
                  </a:ext>
                </a:extLst>
              </a:tr>
              <a:tr h="1179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FIRE CHIEF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Chief Green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Asst. Chief: </a:t>
                      </a:r>
                      <a:r>
                        <a:rPr lang="en-US" sz="1200">
                          <a:effectLst/>
                        </a:rPr>
                        <a:t>Kevin Gosselin</a:t>
                      </a: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Outside Hire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Chief Green is expected to retire in ~10 years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Average tenure for a Fire Chief role is ~5 years → succession planning needed earlier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No internal candidates are currently qualified or interested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Kevin Gosselin (Assistant Chief) is also nearing retirement → not a viable successor 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No immediate successor available. </a:t>
                      </a:r>
                      <a:endParaRPr lang="en-US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External hire required, with internal pipeline development as backup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6482146"/>
                  </a:ext>
                </a:extLst>
              </a:tr>
              <a:tr h="2115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ASST FIRE CHIEF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Fire Chief: </a:t>
                      </a:r>
                      <a:r>
                        <a:rPr lang="en-US" sz="1200">
                          <a:effectLst/>
                        </a:rPr>
                        <a:t>Chief Green</a:t>
                      </a: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Outside Hire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Chief Gosselin plans to work another 6–8 years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No internal candidates currently interested in the role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High probability of external hiring for replacement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Daniel Ortmeier identified as a potential long-term successor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Not immediately eligible due to missing certifications (Fire Officer III, Instructor III)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Strong experience but needs additional technical and credential development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Decision path: develop Daniel vs. hire externally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200" b="0" i="0" u="none" strike="noStrike" noProof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</a:rPr>
                        <a:t>Strong reliance on external hiring unless development begins now.</a:t>
                      </a:r>
                      <a:endParaRPr lang="en-US"/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Clear opportunity to invest in structured training and career progression.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663879"/>
                  </a:ext>
                </a:extLst>
              </a:tr>
              <a:tr h="21158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FIRE CAPTAIN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Chief Green </a:t>
                      </a: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OR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Kevin Gosselin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Carlson</a:t>
                      </a: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Willoughby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Mabry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Dukes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Moore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Robert Dukes: Expected to retire in 3–4 years → not a long-term priority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Can be retained short-term if immediate coverage is needed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Joshua Mabry: Viable internal successor candidate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Promotion gaps (key blockers): 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Justin Willoughby → Needs Fire Officer II 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Jared Carlson → Needs Fire Officer I, II, and Intermediate 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Justin Moore→ Needs Fire Officer II</a:t>
                      </a:r>
                      <a:endParaRPr lang="en-US" b="0" i="0" u="none" strike="noStrike" noProof="0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Internal pipeline exists but is under-qualified → Prioritize upskilling ,certification and development plans </a:t>
                      </a:r>
                      <a:r>
                        <a:rPr lang="en-US" sz="1200" b="0" i="0" u="none" strike="noStrike" noProof="0">
                          <a:effectLst/>
                        </a:rPr>
                        <a:t>to promote near-ready candidates</a:t>
                      </a:r>
                      <a:endParaRPr lang="en-US" sz="1200" b="0" i="0" u="none" strike="noStrike" noProof="0">
                        <a:effectLst/>
                        <a:latin typeface="Apto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6507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925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B8D56-3CEC-9EF4-A98A-BBC01E61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0E6E92-BA8E-64CB-6CA6-B6552F84EC0A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C53BCF-4237-AF46-9AF4-0B39403684E6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2D60D99-9E56-8673-4E83-9CF08923C49A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Proposed Fire Department Succession Plan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DC733B2-5379-AB8A-E4F2-6DEC91E2B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148598"/>
              </p:ext>
            </p:extLst>
          </p:nvPr>
        </p:nvGraphicFramePr>
        <p:xfrm>
          <a:off x="74950" y="810918"/>
          <a:ext cx="12042877" cy="47548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589577">
                  <a:extLst>
                    <a:ext uri="{9D8B030D-6E8A-4147-A177-3AD203B41FA5}">
                      <a16:colId xmlns:a16="http://schemas.microsoft.com/office/drawing/2014/main" val="3838376899"/>
                    </a:ext>
                  </a:extLst>
                </a:gridCol>
                <a:gridCol w="1066504">
                  <a:extLst>
                    <a:ext uri="{9D8B030D-6E8A-4147-A177-3AD203B41FA5}">
                      <a16:colId xmlns:a16="http://schemas.microsoft.com/office/drawing/2014/main" val="4150580767"/>
                    </a:ext>
                  </a:extLst>
                </a:gridCol>
                <a:gridCol w="2107297">
                  <a:extLst>
                    <a:ext uri="{9D8B030D-6E8A-4147-A177-3AD203B41FA5}">
                      <a16:colId xmlns:a16="http://schemas.microsoft.com/office/drawing/2014/main" val="816572970"/>
                    </a:ext>
                  </a:extLst>
                </a:gridCol>
                <a:gridCol w="1848786">
                  <a:extLst>
                    <a:ext uri="{9D8B030D-6E8A-4147-A177-3AD203B41FA5}">
                      <a16:colId xmlns:a16="http://schemas.microsoft.com/office/drawing/2014/main" val="3096856010"/>
                    </a:ext>
                  </a:extLst>
                </a:gridCol>
                <a:gridCol w="2623278">
                  <a:extLst>
                    <a:ext uri="{9D8B030D-6E8A-4147-A177-3AD203B41FA5}">
                      <a16:colId xmlns:a16="http://schemas.microsoft.com/office/drawing/2014/main" val="721647069"/>
                    </a:ext>
                  </a:extLst>
                </a:gridCol>
                <a:gridCol w="2807435">
                  <a:extLst>
                    <a:ext uri="{9D8B030D-6E8A-4147-A177-3AD203B41FA5}">
                      <a16:colId xmlns:a16="http://schemas.microsoft.com/office/drawing/2014/main" val="272096792"/>
                    </a:ext>
                  </a:extLst>
                </a:gridCol>
              </a:tblGrid>
              <a:tr h="323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Role/position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Potential Successor names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Backup Coverage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Potential future eligible successor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Reason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Recommendation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6104187"/>
                  </a:ext>
                </a:extLst>
              </a:tr>
              <a:tr h="700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FIRE DRIVER/OPERATOR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Stepup Fire Fighters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Valdelamar </a:t>
                      </a:r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</a:rPr>
                        <a:t>Wallace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Harper is expected to retire soon → immediate vacancy risk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No clearly identified internal successor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Limited time to prepare internal candidates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High likelihood of external hiring to ensure continuity</a:t>
                      </a: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0821211"/>
                  </a:ext>
                </a:extLst>
              </a:tr>
              <a:tr h="1088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FF/PARAMEDIC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Outside Hire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Multiple FF/Paramedics could be upskilled for this role </a:t>
                      </a:r>
                      <a:r>
                        <a:rPr lang="en-US" sz="1200" b="0" i="0" u="none" strike="noStrike" noProof="0">
                          <a:effectLst/>
                        </a:rPr>
                        <a:t>in this way we will have backup for FIRE DRIVER/OPERATOR 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US" sz="1200" b="0" i="0" u="none" strike="noStrike" noProof="0">
                        <a:effectLst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Cross-training and sponsorship can prepare candidates in advance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71546339"/>
                  </a:ext>
                </a:extLst>
              </a:tr>
              <a:tr h="1056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FIRE SUPPORT SPEC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Outside Hire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effectLst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Potentially eligible FF/Paramedics can be upskilled into support roles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in this way we will have backup for FIRE SUPPORT SPEC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US" sz="1200" b="0" i="0" u="none" strike="noStrike" noProof="0">
                        <a:effectLst/>
                        <a:latin typeface="Aptos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Cross-training and sponsorship can prepare candidates in advance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0484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9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20CA4-70E9-2FA7-9B3B-06280C23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9778E1-747E-697C-19D9-CC970DFC206C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5ACE9C-4CC2-D82C-46CE-C89AEF6298E7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05A2EC9-F553-D5CB-B48A-19B80B4F5120}"/>
              </a:ext>
            </a:extLst>
          </p:cNvPr>
          <p:cNvSpPr/>
          <p:nvPr/>
        </p:nvSpPr>
        <p:spPr>
          <a:xfrm>
            <a:off x="370649" y="161544"/>
            <a:ext cx="9118408" cy="351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</a:rPr>
              <a:t>Proposed Fire Department Strategy &amp; Development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11BD6-9432-9A63-B7C1-0CEFB9193909}"/>
              </a:ext>
            </a:extLst>
          </p:cNvPr>
          <p:cNvSpPr txBox="1"/>
          <p:nvPr/>
        </p:nvSpPr>
        <p:spPr>
          <a:xfrm>
            <a:off x="8315289" y="888521"/>
            <a:ext cx="363545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How Does This Connects to a Two-Deep Leadership Bench? </a:t>
            </a:r>
          </a:p>
          <a:p>
            <a:endParaRPr lang="en-US"/>
          </a:p>
          <a:p>
            <a:r>
              <a:rPr lang="en-US"/>
              <a:t>This approach supports building a two-deep leadership bench, where each critical role has: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One primary successor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One backup successor </a:t>
            </a:r>
          </a:p>
          <a:p>
            <a:endParaRPr lang="en-US"/>
          </a:p>
          <a:p>
            <a:r>
              <a:rPr lang="en-US"/>
              <a:t>This matters because it prevents the department from relying on just one person and helps ensure coverage if a vacancy happens unexpectedly.</a:t>
            </a:r>
          </a:p>
          <a:p>
            <a:endParaRPr lang="en-US"/>
          </a:p>
          <a:p>
            <a:r>
              <a:rPr lang="en-US" b="1"/>
              <a:t>Main Point:</a:t>
            </a:r>
            <a:br>
              <a:rPr lang="en-US"/>
            </a:br>
            <a:r>
              <a:rPr lang="en-US"/>
              <a:t>The department does not need to start from scratch. It already has possible successors, but they need a clear plan to become ready.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E51D2-5422-D86F-B551-1BB7C57A1857}"/>
              </a:ext>
            </a:extLst>
          </p:cNvPr>
          <p:cNvSpPr txBox="1"/>
          <p:nvPr/>
        </p:nvSpPr>
        <p:spPr>
          <a:xfrm>
            <a:off x="241253" y="979509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goal should be to move employees from “possible successor” to “ready successor.”</a:t>
            </a:r>
          </a:p>
          <a:p>
            <a:endParaRPr lang="en-US"/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C5EFE9AE-6503-1EF4-15F2-EB8FF28FBD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5236570"/>
              </p:ext>
            </p:extLst>
          </p:nvPr>
        </p:nvGraphicFramePr>
        <p:xfrm>
          <a:off x="241253" y="2022921"/>
          <a:ext cx="7505268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2947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Additional Recommendations for Fire Department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59" y="1075795"/>
            <a:ext cx="10990915" cy="5458355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7D8D4"/>
            </a:solidFill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Internal development of successors is a cost-effective and sustainable long-term strategy that ensures continuity in specialized roles.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External hiring may be required to fill gaps quickly, but dependency on external hiring could be minimized wherever possible, especially for roles below Assistant Fire Chief.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There is a risk of short-term gaps if transitions are not planned early.</a:t>
            </a:r>
          </a:p>
          <a:p>
            <a:pPr marL="285750" indent="-285750">
              <a:buFont typeface="Arial"/>
              <a:buChar char="•"/>
            </a:pP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Provide training and exposure to the team across various catastrophic situations, such as wildfires and natural disasters, to motivate and keep them engaged.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If there are limitations in sponsoring paid certifications or training, identify the most reliable and high-performing candidates and require them to complete mandatory training within a defined timeline, while clearly communicating the future benefits of the program.</a:t>
            </a:r>
          </a:p>
          <a:p>
            <a:pPr marL="285750" indent="-285750">
              <a:buFont typeface="Arial"/>
              <a:buChar char="•"/>
            </a:pP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Consider sending selected team members to nearby counties like Dallas or other busy cities for exposure to emergencies they have not handled before, possibly on a quarterly exchange basis.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Also, bring in personnel from other counties to learn and share how fire departments operate across Highland Village.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986" y="1611942"/>
            <a:ext cx="10362906" cy="417026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85750" indent="-285750">
              <a:buFont typeface="Arial"/>
              <a:buChar char="•"/>
            </a:pP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C41B8-820A-4F30-40FE-68F5BFB9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331684-F1D2-CFFC-542E-94B43667287C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336078-C58F-ECE2-0F67-A6EA023CFF26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Additional Recommendations for Fire Department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AABDC1-8E12-DCA0-0A9C-473C1EEF49ED}"/>
              </a:ext>
            </a:extLst>
          </p:cNvPr>
          <p:cNvSpPr/>
          <p:nvPr/>
        </p:nvSpPr>
        <p:spPr>
          <a:xfrm>
            <a:off x="594359" y="973015"/>
            <a:ext cx="10990915" cy="5099539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7D8D4"/>
            </a:solidFill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a written succession plan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Designate a Succession Plan Administrator (e.g., the Assistant Fire Chief) responsible for annual reviews and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Conduct annual succession readiness reviews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Publish internal readiness dashboards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every rank of Captain and above, identify at least two successors and create personalized IDPs for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Establish a formal Acting Captain / Acting Driver-Operator rotation program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Adopt Certification Incentive Pay: Rather than bearing full sponsorship costs upfront, incentive pay rewards completed certifications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Negotiate a quarterly officer exchange program with Lewisville and Flower Mound, where developing officers spend 1–2 shifts embedded in a neighboring department's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Establish a Mentorship Program: monthly meetings, quarterly goal reviews, and written progress notes.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Partner with local community colleges (e.g. North Central Texas College, Tarrant County College) to create an internship or ride-along program for fire science students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B34A408-0D74-5298-7514-DCEE18F301D2}"/>
              </a:ext>
            </a:extLst>
          </p:cNvPr>
          <p:cNvSpPr/>
          <p:nvPr/>
        </p:nvSpPr>
        <p:spPr>
          <a:xfrm>
            <a:off x="859986" y="1611942"/>
            <a:ext cx="10362906" cy="417026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85750" indent="-285750">
              <a:buFont typeface="Arial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268016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145C-D2DB-BAA9-465A-753B5D06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0772B11-4164-F7BD-17A9-8F611DDC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77D87C2-47B6-8D43-5750-D52D55D44177}"/>
              </a:ext>
            </a:extLst>
          </p:cNvPr>
          <p:cNvSpPr/>
          <p:nvPr/>
        </p:nvSpPr>
        <p:spPr>
          <a:xfrm>
            <a:off x="-2" y="0"/>
            <a:ext cx="12191695" cy="6858000"/>
          </a:xfrm>
          <a:prstGeom prst="rect">
            <a:avLst/>
          </a:prstGeom>
          <a:solidFill>
            <a:srgbClr val="0E1722">
              <a:alpha val="6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F2416CB-9879-8720-CDE8-E71A125D598D}"/>
              </a:ext>
            </a:extLst>
          </p:cNvPr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722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21C7CDB-F888-3233-86EE-F407C89337BB}"/>
              </a:ext>
            </a:extLst>
          </p:cNvPr>
          <p:cNvSpPr/>
          <p:nvPr/>
        </p:nvSpPr>
        <p:spPr>
          <a:xfrm>
            <a:off x="884432" y="5445030"/>
            <a:ext cx="1042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COHV Parks and Recreation Department Succession Planning</a:t>
            </a:r>
          </a:p>
        </p:txBody>
      </p:sp>
    </p:spTree>
    <p:extLst>
      <p:ext uri="{BB962C8B-B14F-4D97-AF65-F5344CB8AC3E}">
        <p14:creationId xmlns:p14="http://schemas.microsoft.com/office/powerpoint/2010/main" val="2547246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CD737-2ECF-D8BE-C860-2734B4C5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075883-0D38-DB18-230A-A1DE4863CB31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0CCE69-0CCF-FE1D-780E-7BE862CAFE18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4B2A23A-BD56-B337-4A36-488AFBB194AD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Parks Leadership Current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D79E4-CD94-5702-D482-97E5F1C187C7}"/>
              </a:ext>
            </a:extLst>
          </p:cNvPr>
          <p:cNvSpPr txBox="1"/>
          <p:nvPr/>
        </p:nvSpPr>
        <p:spPr>
          <a:xfrm>
            <a:off x="502920" y="903476"/>
            <a:ext cx="11443708" cy="49628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50" b="1" u="sng"/>
              <a:t>Top-Level Leadership:</a:t>
            </a:r>
            <a:endParaRPr lang="en-US" sz="1650" u="sng"/>
          </a:p>
          <a:p>
            <a:r>
              <a:rPr lang="en-US" sz="1650" b="1"/>
              <a:t>Director (Phillipe Lozano)</a:t>
            </a:r>
            <a:endParaRPr lang="en-US" sz="16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Responsible for department-wide planning, budgeting, and operations</a:t>
            </a:r>
            <a:br>
              <a:rPr lang="en-US" sz="1650"/>
            </a:br>
            <a:endParaRPr lang="en-US" sz="1650"/>
          </a:p>
          <a:p>
            <a:r>
              <a:rPr lang="en-US" sz="1650" b="1" u="sng"/>
              <a:t>Assistant Director Level:</a:t>
            </a:r>
            <a:endParaRPr lang="en-US" sz="1650" u="sng"/>
          </a:p>
          <a:p>
            <a:r>
              <a:rPr lang="en-US" sz="1650" b="1"/>
              <a:t>Brian Norton (Parks Operations)</a:t>
            </a:r>
            <a:endParaRPr lang="en-US" sz="1650"/>
          </a:p>
          <a:p>
            <a:r>
              <a:rPr lang="en-US" sz="1650" b="1"/>
              <a:t>Andra Foreman (Recreation operations)</a:t>
            </a:r>
            <a:endParaRPr lang="en-US" sz="16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Manage divisions, staff, and long-term planning </a:t>
            </a:r>
            <a:endParaRPr lang="en-US" sz="1650" b="1"/>
          </a:p>
          <a:p>
            <a:endParaRPr lang="en-US" sz="1650" b="1"/>
          </a:p>
          <a:p>
            <a:r>
              <a:rPr lang="en-US" sz="1650" b="1" u="sng"/>
              <a:t>Mid-Level Leadership:</a:t>
            </a:r>
            <a:endParaRPr lang="en-US" sz="1650" u="sng"/>
          </a:p>
          <a:p>
            <a:r>
              <a:rPr lang="en-US" sz="1650" b="1"/>
              <a:t>Parks Superintendent (</a:t>
            </a:r>
            <a:r>
              <a:rPr lang="en-US" sz="1650"/>
              <a:t>Gabriel</a:t>
            </a:r>
            <a:r>
              <a:rPr lang="en-US" sz="1650" b="1"/>
              <a:t> </a:t>
            </a:r>
            <a:r>
              <a:rPr lang="en-US" sz="1650"/>
              <a:t>Doria</a:t>
            </a:r>
            <a:r>
              <a:rPr lang="en-US" sz="1650" b="1"/>
              <a:t>)</a:t>
            </a:r>
            <a:endParaRPr lang="en-US" sz="1650"/>
          </a:p>
          <a:p>
            <a:r>
              <a:rPr lang="en-US" sz="1650" b="1"/>
              <a:t>Parks Supervisor (</a:t>
            </a:r>
            <a:r>
              <a:rPr lang="en-US" sz="1650"/>
              <a:t>Phillip Schmidt</a:t>
            </a:r>
            <a:r>
              <a:rPr lang="en-US" sz="1650" b="1"/>
              <a:t>)</a:t>
            </a:r>
            <a:endParaRPr lang="en-US" sz="1650"/>
          </a:p>
          <a:p>
            <a:r>
              <a:rPr lang="en-US" sz="1700" b="1"/>
              <a:t>Parks Crew leader (</a:t>
            </a:r>
            <a:r>
              <a:rPr lang="en-US" sz="1700"/>
              <a:t>Ignacio Gomez, Justin Morgan, Jorge, Joseph, Hector, Justin</a:t>
            </a:r>
            <a:r>
              <a:rPr lang="en-US" sz="1700" b="1"/>
              <a:t>)</a:t>
            </a:r>
            <a:endParaRPr lang="en-US"/>
          </a:p>
          <a:p>
            <a:r>
              <a:rPr lang="en-US" sz="1700" b="1"/>
              <a:t>Parks Irrigation / Project Specialist (</a:t>
            </a:r>
            <a:r>
              <a:rPr lang="en-US" sz="1700"/>
              <a:t>Jesus Contreras</a:t>
            </a:r>
            <a:r>
              <a:rPr lang="en-US" sz="1700" b="1"/>
              <a:t>)</a:t>
            </a:r>
            <a:endParaRPr lang="en-US"/>
          </a:p>
          <a:p>
            <a:r>
              <a:rPr lang="en-US" sz="1700" b="1"/>
              <a:t>Pest control/herbicide technician (</a:t>
            </a:r>
            <a:r>
              <a:rPr lang="en-US" sz="1700"/>
              <a:t>Brent Hill</a:t>
            </a:r>
            <a:r>
              <a:rPr lang="en-US" sz="1700" b="1"/>
              <a:t>)</a:t>
            </a:r>
            <a:endParaRPr lang="en-US"/>
          </a:p>
          <a:p>
            <a:r>
              <a:rPr lang="en-US" sz="1700" b="1"/>
              <a:t>Parks Tech II (</a:t>
            </a:r>
            <a:r>
              <a:rPr lang="en-US" sz="1700"/>
              <a:t>Ignacio, Rafael, Yeison, Scott, Manuel, Luis</a:t>
            </a:r>
            <a:r>
              <a:rPr lang="en-US" sz="1700" b="1"/>
              <a:t>)</a:t>
            </a:r>
          </a:p>
          <a:p>
            <a:r>
              <a:rPr lang="en-US" sz="1700" b="1"/>
              <a:t>Parks Tech I (</a:t>
            </a:r>
            <a:r>
              <a:rPr lang="en-US" sz="1700"/>
              <a:t>Joshua, Mark, Christopher, Evan</a:t>
            </a:r>
            <a:r>
              <a:rPr lang="en-US" sz="1700" b="1"/>
              <a:t>)</a:t>
            </a:r>
            <a:endParaRPr lang="en-US"/>
          </a:p>
          <a:p>
            <a:r>
              <a:rPr lang="en-US" sz="1700" b="1"/>
              <a:t>Recreation Supervisor (</a:t>
            </a:r>
            <a:r>
              <a:rPr lang="en-US" sz="1700"/>
              <a:t>Scott, Deborah J</a:t>
            </a:r>
            <a:r>
              <a:rPr lang="en-US" sz="1700" b="1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Involved in daily operations, staff supervision, and project coordination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A50E08-0BBE-B8CD-2D8F-6ED527457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642" y="2604557"/>
            <a:ext cx="3779986" cy="36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32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1EF06-6A1C-7237-4245-63CDF770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EB6183-BFFC-EA65-FC90-2AA53BBCFDA5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EFA9DA-2AF2-C4C2-267F-8AF19A28FCE3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B90C815-C69C-8A0D-1389-7F404E2FA2AC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Parks Leadership Structure &amp; Successor Coverage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1CF98B-E1E9-B979-B5FE-A41B74552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3565" y="777240"/>
            <a:ext cx="9084564" cy="605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91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80FF7-D944-8E84-1023-CBBC48935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224013-88DB-E232-04A6-5A9D8E7CDFCC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7677B7-E1A4-5D9A-6B14-ECC0EFB3BB5F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55D1F-BB7D-C282-EDEA-9D83AF846654}"/>
              </a:ext>
            </a:extLst>
          </p:cNvPr>
          <p:cNvSpPr txBox="1"/>
          <p:nvPr/>
        </p:nvSpPr>
        <p:spPr>
          <a:xfrm>
            <a:off x="158567" y="1656018"/>
            <a:ext cx="599324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dirty="0"/>
              <a:t>High Risk / High Impact Roles: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Director (Lozano)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Assistant Directors (Norton, Foreman)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Superintendent (Doria) </a:t>
            </a:r>
          </a:p>
          <a:p>
            <a:r>
              <a:rPr lang="en-US" sz="1400" dirty="0"/>
              <a:t>These roles are high risk due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retirement eligibility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limited qualified replacements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Manage divisions, staff, and long-term planning </a:t>
            </a:r>
          </a:p>
          <a:p>
            <a:r>
              <a:rPr lang="en-US" sz="1400" dirty="0"/>
              <a:t>They are high impact because they control: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planning and budgeting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staff and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decision-making across the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Must be able to communicate and build connections with all stakeholders 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EB07ADD-64B3-304A-A128-5CAB6DF5C61F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</a:rPr>
              <a:t>Risk of Vacancy &amp; Impact of Vacancy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16F22-AA18-6622-63BF-A8CE6A747930}"/>
              </a:ext>
            </a:extLst>
          </p:cNvPr>
          <p:cNvSpPr txBox="1"/>
          <p:nvPr/>
        </p:nvSpPr>
        <p:spPr>
          <a:xfrm>
            <a:off x="4958" y="801624"/>
            <a:ext cx="1208054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The workforce data shows that risk and impact increase as you move up the organization, with leadership roles being the most vulnerable.</a:t>
            </a:r>
          </a:p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22F0F-2143-E0CB-6447-72027A7C39AF}"/>
              </a:ext>
            </a:extLst>
          </p:cNvPr>
          <p:cNvSpPr txBox="1"/>
          <p:nvPr/>
        </p:nvSpPr>
        <p:spPr>
          <a:xfrm>
            <a:off x="6045231" y="1653992"/>
            <a:ext cx="5989657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dirty="0"/>
              <a:t>High Risk / Medium Impact Roles: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Parks Supervisor (Schmidt)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Crew Leaders (Gomez, Ponce, Hardin, Calderon, etc.)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Important for daily operations, crew management and project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Easier to cover temporarily compared to leadership roles </a:t>
            </a:r>
          </a:p>
          <a:p>
            <a:endParaRPr lang="en-US" sz="1600" dirty="0"/>
          </a:p>
          <a:p>
            <a:r>
              <a:rPr lang="en-US" sz="1600" b="1" dirty="0"/>
              <a:t>Medium Risk / Lower Impact Roles: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Technicians (Tech I / Tech II)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Specialists (Irrigation, Pest Control)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employees available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Easier to replace or cross-train</a:t>
            </a:r>
          </a:p>
          <a:p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652560-9B01-40EE-9E61-65E985BB19AF}"/>
              </a:ext>
            </a:extLst>
          </p:cNvPr>
          <p:cNvSpPr txBox="1"/>
          <p:nvPr/>
        </p:nvSpPr>
        <p:spPr>
          <a:xfrm>
            <a:off x="157112" y="5135926"/>
            <a:ext cx="12034583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/>
              <a:t>Key Observation: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Leadership roles have capable successors, but must have more than one backup 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Specialized roles have skill-based gaps, even when staffing is stable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Lower-level roles have more flexibility due to a larger workforce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The issue is not a lack of capable employees, but a lack of multiple ready options for each role, which increases risk if more than one vacancy occurs.</a:t>
            </a:r>
          </a:p>
          <a:p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780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5266B-F8C3-CC98-BB7F-F0474501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C4228B-B68A-E68B-FB0E-6AB3030CAE70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10F735-B865-7993-4121-5EC1FE65A106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7D31538-400E-0134-7D94-62755EEBBBFC}"/>
              </a:ext>
            </a:extLst>
          </p:cNvPr>
          <p:cNvSpPr/>
          <p:nvPr/>
        </p:nvSpPr>
        <p:spPr>
          <a:xfrm>
            <a:off x="370648" y="161544"/>
            <a:ext cx="10824889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</a:rPr>
              <a:t>Proposed Parks &amp; Recreation Succession Strategy &amp; Development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F83DB-61C8-47E5-799C-41344D9EFE12}"/>
              </a:ext>
            </a:extLst>
          </p:cNvPr>
          <p:cNvSpPr txBox="1"/>
          <p:nvPr/>
        </p:nvSpPr>
        <p:spPr>
          <a:xfrm>
            <a:off x="8315289" y="888521"/>
            <a:ext cx="363545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How Does This Connects to a Two-Deep Leadership Bench? </a:t>
            </a:r>
          </a:p>
          <a:p>
            <a:endParaRPr lang="en-US"/>
          </a:p>
          <a:p>
            <a:r>
              <a:rPr lang="en-US"/>
              <a:t>Each key role should have: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One primary successor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One backup successor </a:t>
            </a:r>
          </a:p>
          <a:p>
            <a:endParaRPr lang="en-US"/>
          </a:p>
          <a:p>
            <a:r>
              <a:rPr lang="en-US"/>
              <a:t>This helps: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Reduce risk if someone leaves unexpectedly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Improve flexibility in promotions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Ensure there is more than one option available at each level</a:t>
            </a:r>
          </a:p>
          <a:p>
            <a:endParaRPr lang="en-US"/>
          </a:p>
          <a:p>
            <a:r>
              <a:rPr lang="en-US" b="1"/>
              <a:t>Main Point:</a:t>
            </a:r>
            <a:br>
              <a:rPr lang="en-US"/>
            </a:br>
            <a:r>
              <a:rPr lang="en-US"/>
              <a:t>The department already has capable successors but needs to build more backup options and prepare multiple people for each role, not just rely on one.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E8ADD-3C08-C636-CB45-2A44918C7B10}"/>
              </a:ext>
            </a:extLst>
          </p:cNvPr>
          <p:cNvSpPr txBox="1"/>
          <p:nvPr/>
        </p:nvSpPr>
        <p:spPr>
          <a:xfrm>
            <a:off x="370649" y="833682"/>
            <a:ext cx="72390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The goal is to move from having identified successors to having multiple prepared options for each key role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C89F673A-02EB-5177-FCA3-D4E3FDE5C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0263636"/>
              </p:ext>
            </p:extLst>
          </p:nvPr>
        </p:nvGraphicFramePr>
        <p:xfrm>
          <a:off x="241253" y="2022921"/>
          <a:ext cx="7505268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272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F433D-598B-2EE4-2496-AC8D59A9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6E55F1-22B5-2603-9CF0-564940082D5E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66AD6F-54A3-72F5-202E-3EA137BBD153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Recommendations for Parks and Recreation </a:t>
            </a:r>
            <a:endParaRPr lang="en-US" sz="2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E3C2FF-A4BA-E827-1E8C-1AD11B987B13}"/>
              </a:ext>
            </a:extLst>
          </p:cNvPr>
          <p:cNvSpPr/>
          <p:nvPr/>
        </p:nvSpPr>
        <p:spPr>
          <a:xfrm>
            <a:off x="502920" y="1036756"/>
            <a:ext cx="10899648" cy="507013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7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B1CD7F-4E16-3721-6F1F-42DBCC6C8860}"/>
              </a:ext>
            </a:extLst>
          </p:cNvPr>
          <p:cNvSpPr/>
          <p:nvPr/>
        </p:nvSpPr>
        <p:spPr>
          <a:xfrm>
            <a:off x="771291" y="1284079"/>
            <a:ext cx="10362906" cy="392756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Introducing potential future eligible successors to higher roles like shadowing and cross training so that they would feel more interested and involved.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there are limitations in sponsoring paid certifications or training, identify the most reliable and high-performing candidates and require them to complete mandatory training within a defined timeline, while clearly communicating the future benefits of the program.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risk of short-term gaps if transitions are not planned early. Internal development of successors is a cost-effective and sustainable long-term strategy that ensures continuity in specialized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,Sans-Serif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hiring may be required to fill gaps quickly, but dependency on external hiring could be minimized wherever possible, especially for roles below Assistant Director.</a:t>
            </a:r>
          </a:p>
          <a:p>
            <a:pPr marL="285750" indent="-285750">
              <a:buFont typeface="Arial,Sans-Serif"/>
              <a:buChar char="•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2748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EA179-0C48-A317-A418-ACB4A307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C8CC81-480A-011D-44C4-92EBC25F6A16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C3A4A0-FDDE-5F56-923F-E64E8AB7CDBC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Recommendations for Parks and Recreation </a:t>
            </a:r>
            <a:endParaRPr lang="en-US" sz="2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EB89D63-2395-5083-D3A2-52744FD385DF}"/>
              </a:ext>
            </a:extLst>
          </p:cNvPr>
          <p:cNvSpPr/>
          <p:nvPr/>
        </p:nvSpPr>
        <p:spPr>
          <a:xfrm>
            <a:off x="502920" y="777240"/>
            <a:ext cx="10899648" cy="59436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7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83EE62-FDAB-D30F-5477-4C823B12D003}"/>
              </a:ext>
            </a:extLst>
          </p:cNvPr>
          <p:cNvSpPr/>
          <p:nvPr/>
        </p:nvSpPr>
        <p:spPr>
          <a:xfrm>
            <a:off x="771291" y="952500"/>
            <a:ext cx="10362906" cy="559715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Create a documented succession plan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Publish career pathway diagrams and make them available to all employees so they can see their growth trajectory clearly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Implement a structured rotation program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Create a cross-training checklist that documents skills gained during rotations.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Tie cross-training completion to eligibility for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Address the Language Barrier Through Bilingual Development: Consider bilingual competency as a positive factor in promotional evaluations, not just a barrier.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Implement a Knowledge Management System: create documented standard operating procedures (SOPs) for their critical responsibilities. Build a shared knowledge repository.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Irrigation system maps and maintenance schedules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Pesticide application protocols and regulatory compliance guides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Adopt Certification Incentive Pay and Tuition Reimbursement: Explore tuition reimbursement for employees pursuing degrees or certificates in parks management, recreation 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Strengthen the External Pipeline: Partner with UNT, TWU, UTD or UTA programs in recreation/sport management to create internship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Adopt a City-Wide Learning Management System (LMS): Implement a city-wide LMS to track training completions, certifications, and IDP progress across both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Conduct Annual/Biannual Employee Engagement Surveys with questions specifically about: </a:t>
            </a:r>
            <a:r>
              <a:rPr lang="en-US" sz="1050" dirty="0"/>
              <a:t>Career development satisfaction, Perceived promotional opportunities, Training accessibility and quality, Supervision and mentorship quality, Retention intent (likelihood to stay 2+ years) and Use survey results to refine succession planning priorities annually.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0643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A742D-7B2F-2EF7-78E5-776938AD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996D74-B608-3762-CEDF-C9569F3AD052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706919-CA96-7CCF-095C-84B4AB82965D}"/>
              </a:ext>
            </a:extLst>
          </p:cNvPr>
          <p:cNvSpPr/>
          <p:nvPr/>
        </p:nvSpPr>
        <p:spPr>
          <a:xfrm>
            <a:off x="502920" y="137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895A0-90C4-5759-60B7-612DC2FDBC8A}"/>
              </a:ext>
            </a:extLst>
          </p:cNvPr>
          <p:cNvSpPr txBox="1"/>
          <p:nvPr/>
        </p:nvSpPr>
        <p:spPr>
          <a:xfrm>
            <a:off x="391733" y="830364"/>
            <a:ext cx="114082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/>
              <a:t>Key Findings</a:t>
            </a:r>
            <a:br>
              <a:rPr lang="en-US" sz="2000"/>
            </a:br>
            <a:r>
              <a:rPr lang="en-US" sz="2000"/>
              <a:t>• Both the Fire Department and Parks and Rec have clear structures and some successors</a:t>
            </a:r>
            <a:br>
              <a:rPr lang="en-US" sz="2000"/>
            </a:br>
            <a:r>
              <a:rPr lang="en-US" sz="2000"/>
              <a:t>• Many employees are not ready yet, especially in the fire department</a:t>
            </a:r>
            <a:br>
              <a:rPr lang="en-US" sz="2000"/>
            </a:br>
            <a:r>
              <a:rPr lang="en-US" sz="2000"/>
              <a:t>• Parks and Rec has more coverage, but less backup at higher leadership roles</a:t>
            </a:r>
          </a:p>
          <a:p>
            <a:endParaRPr lang="en-US" sz="2000" u="sng"/>
          </a:p>
          <a:p>
            <a:r>
              <a:rPr lang="en-US" sz="2000" b="1" u="sng"/>
              <a:t>Main Risks</a:t>
            </a:r>
            <a:br>
              <a:rPr lang="en-US" sz="2000"/>
            </a:br>
            <a:r>
              <a:rPr lang="en-US" sz="2000"/>
              <a:t>• Important leadership roles in both departments do not have ready replacements</a:t>
            </a:r>
            <a:br>
              <a:rPr lang="en-US" sz="2000"/>
            </a:br>
            <a:r>
              <a:rPr lang="en-US" sz="2000"/>
              <a:t>• Fire roles need a lot of training and certifications, which slows things down</a:t>
            </a:r>
            <a:br>
              <a:rPr lang="en-US" sz="2000"/>
            </a:br>
            <a:r>
              <a:rPr lang="en-US" sz="2000"/>
              <a:t>• Most roles depend on only one main successor</a:t>
            </a:r>
          </a:p>
          <a:p>
            <a:endParaRPr lang="en-US" sz="2000"/>
          </a:p>
          <a:p>
            <a:r>
              <a:rPr lang="en-US" sz="2000" b="1" u="sng"/>
              <a:t>Recommendations</a:t>
            </a:r>
            <a:br>
              <a:rPr lang="en-US" sz="2000"/>
            </a:br>
            <a:r>
              <a:rPr lang="en-US" sz="2000"/>
              <a:t>• Build a two-deep leadership bench in both departments</a:t>
            </a:r>
            <a:br>
              <a:rPr lang="en-US" sz="2000"/>
            </a:br>
            <a:r>
              <a:rPr lang="en-US" sz="2000"/>
              <a:t>• Have one main successor and one backup for each role</a:t>
            </a:r>
            <a:br>
              <a:rPr lang="en-US" sz="2000"/>
            </a:br>
            <a:r>
              <a:rPr lang="en-US" sz="2000"/>
              <a:t>• Focus on training, certifications, and cross-training</a:t>
            </a:r>
          </a:p>
          <a:p>
            <a:endParaRPr lang="en-US" sz="2000"/>
          </a:p>
          <a:p>
            <a:r>
              <a:rPr lang="en-US" sz="2000" b="1" u="sng"/>
              <a:t>Goals</a:t>
            </a:r>
            <a:br>
              <a:rPr lang="en-US" sz="2000"/>
            </a:br>
            <a:r>
              <a:rPr lang="en-US" sz="2000"/>
              <a:t>• Have multiple people ready for each key role in both departments</a:t>
            </a:r>
            <a:br>
              <a:rPr lang="en-US" sz="2000"/>
            </a:br>
            <a:r>
              <a:rPr lang="en-US" sz="2000"/>
              <a:t>• Reduce risk and keep operations running smoothly</a:t>
            </a:r>
          </a:p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2B4EAE6-602D-7920-EFA8-CB3C009F9F37}"/>
              </a:ext>
            </a:extLst>
          </p:cNvPr>
          <p:cNvSpPr/>
          <p:nvPr/>
        </p:nvSpPr>
        <p:spPr>
          <a:xfrm>
            <a:off x="370649" y="161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</a:rPr>
              <a:t>Wrap-Up: Overall Succession Planning Takeaways</a:t>
            </a:r>
            <a:endParaRPr lang="en-US" sz="2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2D50A-6546-885E-F402-4B0FFB2A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512" y="3429000"/>
            <a:ext cx="3010206" cy="28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87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20B7-9E7A-F21A-C715-9145E530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E0FEA621-184F-6EC3-CBB7-8519EA2606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1" b="7801"/>
          <a:stretch/>
        </p:blipFill>
        <p:spPr>
          <a:xfrm>
            <a:off x="-4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B83A0EC-FABE-D948-3D72-8EAC07A8D331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1722">
              <a:alpha val="6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E8E22E3-B028-AE42-451F-BD42022F3286}"/>
              </a:ext>
            </a:extLst>
          </p:cNvPr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722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2DB84AB-A770-E6BC-7FF9-716F4338197B}"/>
              </a:ext>
            </a:extLst>
          </p:cNvPr>
          <p:cNvSpPr/>
          <p:nvPr/>
        </p:nvSpPr>
        <p:spPr>
          <a:xfrm>
            <a:off x="884432" y="5445030"/>
            <a:ext cx="1042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4957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9603ab-d341-4dad-85d9-aefd3232a86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119AB4A9226441829118A822FD8C7A" ma:contentTypeVersion="14" ma:contentTypeDescription="Create a new document." ma:contentTypeScope="" ma:versionID="8bd17bf3d777bd60339fa25b70349342">
  <xsd:schema xmlns:xsd="http://www.w3.org/2001/XMLSchema" xmlns:xs="http://www.w3.org/2001/XMLSchema" xmlns:p="http://schemas.microsoft.com/office/2006/metadata/properties" xmlns:ns3="ab9603ab-d341-4dad-85d9-aefd3232a86d" xmlns:ns4="51e0186f-c11b-483f-aa79-6635cbfa2378" targetNamespace="http://schemas.microsoft.com/office/2006/metadata/properties" ma:root="true" ma:fieldsID="2df598ce3e38baf2b88567da691a8b76" ns3:_="" ns4:_="">
    <xsd:import namespace="ab9603ab-d341-4dad-85d9-aefd3232a86d"/>
    <xsd:import namespace="51e0186f-c11b-483f-aa79-6635cbfa23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603ab-d341-4dad-85d9-aefd3232a8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0186f-c11b-483f-aa79-6635cbfa237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61201E-E492-483E-A2C6-D05658E3A68E}">
  <ds:schemaRefs>
    <ds:schemaRef ds:uri="51e0186f-c11b-483f-aa79-6635cbfa2378"/>
    <ds:schemaRef ds:uri="ab9603ab-d341-4dad-85d9-aefd3232a86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EF0E53-5698-4D0A-84B1-B2D702D4A3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BA967C-21E2-47B1-A16E-6426E11FA9D1}">
  <ds:schemaRefs>
    <ds:schemaRef ds:uri="51e0186f-c11b-483f-aa79-6635cbfa2378"/>
    <ds:schemaRef ds:uri="ab9603ab-d341-4dad-85d9-aefd3232a8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4147</Words>
  <Application>Microsoft Macintosh PowerPoint</Application>
  <PresentationFormat>Widescreen</PresentationFormat>
  <Paragraphs>611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Abadi</vt:lpstr>
      <vt:lpstr>Aptos</vt:lpstr>
      <vt:lpstr>Aptos Display</vt:lpstr>
      <vt:lpstr>Arial</vt:lpstr>
      <vt:lpstr>Arial,Sans-Serif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Highland Village Succession Planning: Fire &amp; Parks</dc:title>
  <dc:subject>Highland Village succession planning</dc:subject>
  <dc:creator>OpenAI</dc:creator>
  <cp:lastModifiedBy>Balekkal, Kishan Sanjay Kumar</cp:lastModifiedBy>
  <cp:revision>9</cp:revision>
  <dcterms:created xsi:type="dcterms:W3CDTF">2026-04-09T16:03:56Z</dcterms:created>
  <dcterms:modified xsi:type="dcterms:W3CDTF">2026-04-30T18:05:23Z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0x010100A6119AB4A9226441829118A822FD8C7A</vt:lpwstr>
  </property>
</Properties>
</file>